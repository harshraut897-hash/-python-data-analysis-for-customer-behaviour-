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228600" y="444240"/>
            <a:ext cx="7722720" cy="2430360"/>
          </a:xfrm>
          <a:prstGeom prst="rect">
            <a:avLst/>
          </a:prstGeom>
          <a:noFill/>
          <a:ln w="0">
            <a:noFill/>
          </a:ln>
        </p:spPr>
        <p:txBody>
          <a:bodyPr lIns="91440" tIns="91440" rIns="91440" bIns="91440" anchor="b">
            <a:noAutofit/>
          </a:bodyPr>
          <a:p>
            <a:pPr indent="0">
              <a:buNone/>
            </a:pPr>
            <a:r>
              <a:rPr lang="fr-FR" sz="7700" b="0" u="none" strike="noStrike">
                <a:solidFill>
                  <a:schemeClr val="dk1"/>
                </a:solidFill>
                <a:effectLst/>
                <a:uFillTx/>
                <a:latin typeface="Arial" panose="020B0604020202020204"/>
              </a:rPr>
              <a:t>Click to edit the title text format</a:t>
            </a:r>
            <a:endParaRPr lang="fr-FR" sz="7700" b="0" u="none" strike="noStrike">
              <a:solidFill>
                <a:schemeClr val="dk1"/>
              </a:solidFill>
              <a:effectLst/>
              <a:uFillTx/>
              <a:latin typeface="Arial" panose="020B0604020202020204"/>
            </a:endParaRPr>
          </a:p>
        </p:txBody>
      </p:sp>
      <p:sp>
        <p:nvSpPr>
          <p:cNvPr id="2"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228600" y="1313280"/>
            <a:ext cx="6575760" cy="1323360"/>
          </a:xfrm>
          <a:prstGeom prst="rect">
            <a:avLst/>
          </a:prstGeom>
          <a:noFill/>
          <a:ln w="0">
            <a:noFill/>
          </a:ln>
        </p:spPr>
        <p:txBody>
          <a:bodyPr lIns="91440" tIns="91440" rIns="91440" bIns="91440" anchor="b">
            <a:noAutofit/>
          </a:bodyPr>
          <a:p>
            <a:pPr indent="0">
              <a:lnSpc>
                <a:spcPct val="100000"/>
              </a:lnSpc>
              <a:buNone/>
            </a:pPr>
            <a:r>
              <a:rPr lang="fr-FR" sz="7400" b="1" u="none" strike="noStrike">
                <a:solidFill>
                  <a:schemeClr val="accent1"/>
                </a:solidFill>
                <a:effectLst/>
                <a:uFillTx/>
                <a:latin typeface="Space Grotesk"/>
                <a:ea typeface="Space Grotesk"/>
              </a:rPr>
              <a:t>xx%</a:t>
            </a:r>
            <a:endParaRPr lang="fr-FR" sz="7400" b="0" u="none" strike="noStrike">
              <a:solidFill>
                <a:schemeClr val="dk1"/>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hasCustomPrompt="1"/>
          </p:nvPr>
        </p:nvSpPr>
        <p:spPr>
          <a:xfrm>
            <a:off x="228600" y="228600"/>
            <a:ext cx="86864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4" name="PlaceHolder 2"/>
          <p:cNvSpPr>
            <a:spLocks noGrp="1"/>
          </p:cNvSpPr>
          <p:nvPr>
            <p:ph type="title" hasCustomPrompt="1"/>
          </p:nvPr>
        </p:nvSpPr>
        <p:spPr>
          <a:xfrm>
            <a:off x="228600" y="89604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5" name="PlaceHolder 3"/>
          <p:cNvSpPr>
            <a:spLocks noGrp="1"/>
          </p:cNvSpPr>
          <p:nvPr>
            <p:ph type="title" hasCustomPrompt="1"/>
          </p:nvPr>
        </p:nvSpPr>
        <p:spPr>
          <a:xfrm>
            <a:off x="228600" y="228060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6" name="PlaceHolder 4"/>
          <p:cNvSpPr>
            <a:spLocks noGrp="1"/>
          </p:cNvSpPr>
          <p:nvPr>
            <p:ph type="title" hasCustomPrompt="1"/>
          </p:nvPr>
        </p:nvSpPr>
        <p:spPr>
          <a:xfrm>
            <a:off x="2751840" y="89604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7" name="PlaceHolder 5"/>
          <p:cNvSpPr>
            <a:spLocks noGrp="1"/>
          </p:cNvSpPr>
          <p:nvPr>
            <p:ph type="title" hasCustomPrompt="1"/>
          </p:nvPr>
        </p:nvSpPr>
        <p:spPr>
          <a:xfrm>
            <a:off x="2751840" y="228060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8" name="PlaceHolder 6"/>
          <p:cNvSpPr>
            <a:spLocks noGrp="1"/>
          </p:cNvSpPr>
          <p:nvPr>
            <p:ph type="title" hasCustomPrompt="1"/>
          </p:nvPr>
        </p:nvSpPr>
        <p:spPr>
          <a:xfrm>
            <a:off x="228600" y="366516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9" name="PlaceHolder 7"/>
          <p:cNvSpPr>
            <a:spLocks noGrp="1"/>
          </p:cNvSpPr>
          <p:nvPr>
            <p:ph type="title" hasCustomPrompt="1"/>
          </p:nvPr>
        </p:nvSpPr>
        <p:spPr>
          <a:xfrm>
            <a:off x="2751840" y="3665160"/>
            <a:ext cx="734400" cy="553680"/>
          </a:xfrm>
          <a:prstGeom prst="rect">
            <a:avLst/>
          </a:prstGeom>
          <a:noFill/>
          <a:ln w="0">
            <a:noFill/>
          </a:ln>
        </p:spPr>
        <p:txBody>
          <a:bodyPr lIns="91440" tIns="91440" rIns="91440" bIns="91440" anchor="b">
            <a:noAutofit/>
          </a:bodyPr>
          <a:p>
            <a:pPr indent="0">
              <a:lnSpc>
                <a:spcPct val="100000"/>
              </a:lnSpc>
              <a:buNone/>
            </a:pPr>
            <a:r>
              <a:rPr lang="fr-FR" sz="2400" b="1" u="none" strike="noStrike">
                <a:solidFill>
                  <a:schemeClr val="dk1"/>
                </a:solidFill>
                <a:effectLst/>
                <a:uFillTx/>
                <a:latin typeface="Space Grotesk"/>
                <a:ea typeface="Space Grotesk"/>
              </a:rPr>
              <a:t>xx%</a:t>
            </a:r>
            <a:endParaRPr lang="fr-FR" sz="2400" b="0" u="none" strike="noStrike">
              <a:solidFill>
                <a:schemeClr val="dk1"/>
              </a:solidFill>
              <a:effectLst/>
              <a:uFillTx/>
              <a:latin typeface="Arial" panose="020B0604020202020204"/>
            </a:endParaRPr>
          </a:p>
        </p:txBody>
      </p:sp>
      <p:sp>
        <p:nvSpPr>
          <p:cNvPr id="10" name="PlaceHolder 8"/>
          <p:cNvSpPr>
            <a:spLocks noGrp="1"/>
          </p:cNvSpPr>
          <p:nvPr>
            <p:ph type="body" hasCustomPrompt="1"/>
          </p:nvPr>
        </p:nvSpPr>
        <p:spPr>
          <a:xfrm>
            <a:off x="5655240" y="896040"/>
            <a:ext cx="3259800" cy="4018320"/>
          </a:xfrm>
          <a:prstGeom prst="rect">
            <a:avLst/>
          </a:prstGeom>
          <a:noFill/>
          <a:ln w="9360">
            <a:solidFill>
              <a:schemeClr val="dk1"/>
            </a:solidFill>
            <a:round/>
          </a:ln>
        </p:spPr>
        <p:txBody>
          <a:bodyPr lIns="90000" tIns="45000" rIns="90000" bIns="45000" anchor="t">
            <a:normAutofit fontScale="62500" lnSpcReduction="19999"/>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hasCustomPrompt="1"/>
          </p:nvPr>
        </p:nvSpPr>
        <p:spPr>
          <a:xfrm>
            <a:off x="228600" y="888480"/>
            <a:ext cx="7495920" cy="1507320"/>
          </a:xfrm>
          <a:prstGeom prst="rect">
            <a:avLst/>
          </a:prstGeom>
          <a:noFill/>
          <a:ln w="0">
            <a:noFill/>
          </a:ln>
        </p:spPr>
        <p:txBody>
          <a:bodyPr lIns="91440" tIns="91440" rIns="91440" bIns="91440" anchor="b">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12"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hasCustomPrompt="1"/>
          </p:nvPr>
        </p:nvSpPr>
        <p:spPr>
          <a:xfrm>
            <a:off x="228600" y="228600"/>
            <a:ext cx="4262760" cy="98496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14" name="PlaceHolder 2"/>
          <p:cNvSpPr>
            <a:spLocks noGrp="1"/>
          </p:cNvSpPr>
          <p:nvPr>
            <p:ph type="body" hasCustomPrompt="1"/>
          </p:nvPr>
        </p:nvSpPr>
        <p:spPr>
          <a:xfrm>
            <a:off x="4778280" y="228600"/>
            <a:ext cx="4137120" cy="4686120"/>
          </a:xfrm>
          <a:prstGeom prst="rect">
            <a:avLst/>
          </a:prstGeom>
          <a:noFill/>
          <a:ln w="9360">
            <a:solidFill>
              <a:schemeClr val="dk1"/>
            </a:solidFill>
            <a:round/>
          </a:ln>
        </p:spPr>
        <p:txBody>
          <a:bodyPr lIns="90000" tIns="45000" rIns="90000" bIns="45000" anchor="t">
            <a:normAutofit/>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hasCustomPrompt="1"/>
          </p:nvPr>
        </p:nvSpPr>
        <p:spPr>
          <a:xfrm>
            <a:off x="228600" y="228600"/>
            <a:ext cx="86864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16" name="PlaceHolder 2"/>
          <p:cNvSpPr>
            <a:spLocks noGrp="1"/>
          </p:cNvSpPr>
          <p:nvPr>
            <p:ph type="body" hasCustomPrompt="1"/>
          </p:nvPr>
        </p:nvSpPr>
        <p:spPr>
          <a:xfrm>
            <a:off x="228600" y="891720"/>
            <a:ext cx="3602520" cy="4023000"/>
          </a:xfrm>
          <a:prstGeom prst="rect">
            <a:avLst/>
          </a:prstGeom>
          <a:noFill/>
          <a:ln w="9360">
            <a:solidFill>
              <a:schemeClr val="dk1"/>
            </a:solidFill>
            <a:round/>
          </a:ln>
        </p:spPr>
        <p:txBody>
          <a:bodyPr lIns="90000" tIns="45000" rIns="90000" bIns="45000" anchor="t">
            <a:normAutofit lnSpcReduction="9999"/>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hasCustomPrompt="1"/>
          </p:nvPr>
        </p:nvSpPr>
        <p:spPr>
          <a:xfrm>
            <a:off x="228600" y="228600"/>
            <a:ext cx="868608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18" name="PlaceHolder 1"/>
          <p:cNvSpPr>
            <a:spLocks noGrp="1"/>
          </p:cNvSpPr>
          <p:nvPr>
            <p:ph type="title" hasCustomPrompt="1"/>
          </p:nvPr>
        </p:nvSpPr>
        <p:spPr>
          <a:xfrm>
            <a:off x="228600" y="669600"/>
            <a:ext cx="5617080" cy="1292760"/>
          </a:xfrm>
          <a:prstGeom prst="rect">
            <a:avLst/>
          </a:prstGeom>
          <a:noFill/>
          <a:ln w="0">
            <a:noFill/>
          </a:ln>
        </p:spPr>
        <p:txBody>
          <a:bodyPr lIns="91440" tIns="91440" rIns="91440" bIns="91440" anchor="b">
            <a:noAutofit/>
          </a:bodyPr>
          <a:p>
            <a:pPr indent="0">
              <a:buNone/>
            </a:pPr>
            <a:r>
              <a:rPr lang="fr-FR" sz="7200" b="0" u="none" strike="noStrike">
                <a:solidFill>
                  <a:schemeClr val="dk1"/>
                </a:solidFill>
                <a:effectLst/>
                <a:uFillTx/>
                <a:latin typeface="Arial" panose="020B0604020202020204"/>
              </a:rPr>
              <a:t>Click to edit the title text format</a:t>
            </a:r>
            <a:endParaRPr lang="fr-FR" sz="7200" b="0" u="none" strike="noStrike">
              <a:solidFill>
                <a:schemeClr val="dk1"/>
              </a:solidFill>
              <a:effectLst/>
              <a:uFillTx/>
              <a:latin typeface="Arial" panose="020B0604020202020204"/>
            </a:endParaRPr>
          </a:p>
        </p:txBody>
      </p:sp>
      <p:sp>
        <p:nvSpPr>
          <p:cNvPr id="19" name="Google Shape;86;p18"/>
          <p:cNvSpPr/>
          <p:nvPr/>
        </p:nvSpPr>
        <p:spPr>
          <a:xfrm>
            <a:off x="6732360" y="3519720"/>
            <a:ext cx="2182680" cy="79992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gn="r" defTabSz="914400">
              <a:lnSpc>
                <a:spcPct val="100000"/>
              </a:lnSpc>
              <a:spcBef>
                <a:spcPts val="300"/>
              </a:spcBef>
              <a:tabLst>
                <a:tab pos="0" algn="l"/>
              </a:tabLst>
            </a:pPr>
            <a:r>
              <a:rPr lang="en-GB" sz="1000" b="1" u="none" strike="noStrike">
                <a:solidFill>
                  <a:schemeClr val="dk1"/>
                </a:solidFill>
                <a:effectLst/>
                <a:uFillTx/>
                <a:latin typeface="Hind"/>
                <a:ea typeface="Hind"/>
              </a:rPr>
              <a:t>CREDITS:</a:t>
            </a:r>
            <a:r>
              <a:rPr lang="en-GB" sz="1000" b="0" u="none" strike="noStrike">
                <a:solidFill>
                  <a:schemeClr val="dk1"/>
                </a:solidFill>
                <a:effectLst/>
                <a:uFillTx/>
                <a:latin typeface="Hind"/>
                <a:ea typeface="Hind"/>
              </a:rPr>
              <a:t> This presentation template was created by </a:t>
            </a:r>
            <a:r>
              <a:rPr lang="en-GB" sz="1000" b="1" u="sng" strike="noStrike">
                <a:solidFill>
                  <a:schemeClr val="dk1"/>
                </a:solidFill>
                <a:effectLst/>
                <a:uFillTx/>
                <a:latin typeface="Hind"/>
                <a:ea typeface="Hind"/>
                <a:hlinkClick r:id="rId2"/>
              </a:rPr>
              <a:t>Slidesgo</a:t>
            </a:r>
            <a:r>
              <a:rPr lang="en-GB" sz="1000" b="0" u="none" strike="noStrike">
                <a:solidFill>
                  <a:schemeClr val="dk1"/>
                </a:solidFill>
                <a:effectLst/>
                <a:uFillTx/>
                <a:latin typeface="Hind"/>
                <a:ea typeface="Hind"/>
              </a:rPr>
              <a:t>, and includes icons, infographics &amp; images by </a:t>
            </a:r>
            <a:r>
              <a:rPr lang="en-GB" sz="1000" b="1" u="sng" strike="noStrike">
                <a:solidFill>
                  <a:schemeClr val="dk1"/>
                </a:solidFill>
                <a:effectLst/>
                <a:uFillTx/>
                <a:latin typeface="Hind"/>
                <a:ea typeface="Hind"/>
                <a:hlinkClick r:id="rId3"/>
              </a:rPr>
              <a:t>Freepik</a:t>
            </a:r>
            <a:r>
              <a:rPr lang="en-GB" sz="1000" b="0" u="sng" strike="noStrike">
                <a:solidFill>
                  <a:schemeClr val="dk1"/>
                </a:solidFill>
                <a:effectLst/>
                <a:uFillTx/>
                <a:latin typeface="Hind"/>
                <a:ea typeface="Hind"/>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0" name="PlaceHolder 1"/>
          <p:cNvSpPr>
            <a:spLocks noGrp="1"/>
          </p:cNvSpPr>
          <p:nvPr>
            <p:ph type="title" hasCustomPrompt="1"/>
          </p:nvPr>
        </p:nvSpPr>
        <p:spPr>
          <a:xfrm>
            <a:off x="228600" y="766440"/>
            <a:ext cx="6203880" cy="2930040"/>
          </a:xfrm>
          <a:prstGeom prst="rect">
            <a:avLst/>
          </a:prstGeom>
          <a:noFill/>
          <a:ln w="0">
            <a:noFill/>
          </a:ln>
        </p:spPr>
        <p:txBody>
          <a:bodyPr lIns="91440" tIns="91440" rIns="91440" bIns="91440" anchor="b">
            <a:noAutofit/>
          </a:bodyPr>
          <a:p>
            <a:pPr indent="0">
              <a:buNone/>
            </a:pPr>
            <a:r>
              <a:rPr lang="fr-FR" sz="5200" b="0" u="none" strike="noStrike">
                <a:solidFill>
                  <a:schemeClr val="dk1"/>
                </a:solidFill>
                <a:effectLst/>
                <a:uFillTx/>
                <a:latin typeface="Arial" panose="020B0604020202020204"/>
              </a:rPr>
              <a:t>Click to edit the title text format</a:t>
            </a:r>
            <a:endParaRPr lang="fr-FR" sz="5200" b="0" u="none" strike="noStrike">
              <a:solidFill>
                <a:schemeClr val="dk1"/>
              </a:solidFill>
              <a:effectLst/>
              <a:uFillTx/>
              <a:latin typeface="Arial" panose="020B0604020202020204"/>
            </a:endParaRPr>
          </a:p>
        </p:txBody>
      </p:sp>
      <p:sp>
        <p:nvSpPr>
          <p:cNvPr id="21" name="PlaceHolder 2"/>
          <p:cNvSpPr>
            <a:spLocks noGrp="1"/>
          </p:cNvSpPr>
          <p:nvPr>
            <p:ph type="title" hasCustomPrompt="1"/>
          </p:nvPr>
        </p:nvSpPr>
        <p:spPr>
          <a:xfrm>
            <a:off x="7263360" y="803160"/>
            <a:ext cx="1651680" cy="1107720"/>
          </a:xfrm>
          <a:prstGeom prst="rect">
            <a:avLst/>
          </a:prstGeom>
          <a:noFill/>
          <a:ln w="0">
            <a:noFill/>
          </a:ln>
        </p:spPr>
        <p:txBody>
          <a:bodyPr lIns="91440" tIns="91440" rIns="91440" bIns="91440" anchor="b">
            <a:noAutofit/>
          </a:bodyPr>
          <a:p>
            <a:pPr indent="0" algn="r">
              <a:lnSpc>
                <a:spcPct val="100000"/>
              </a:lnSpc>
              <a:buNone/>
            </a:pPr>
            <a:r>
              <a:rPr lang="fr-FR" sz="6000" b="1" u="none" strike="noStrike">
                <a:solidFill>
                  <a:schemeClr val="accent1"/>
                </a:solidFill>
                <a:effectLst/>
                <a:uFillTx/>
                <a:latin typeface="Space Grotesk"/>
                <a:ea typeface="Space Grotesk"/>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23" name="PlaceHolder 2"/>
          <p:cNvSpPr>
            <a:spLocks noGrp="1"/>
          </p:cNvSpPr>
          <p:nvPr>
            <p:ph type="body" hasCustomPrompt="1"/>
          </p:nvPr>
        </p:nvSpPr>
        <p:spPr>
          <a:xfrm>
            <a:off x="720000" y="1215720"/>
            <a:ext cx="7703640" cy="3416040"/>
          </a:xfrm>
          <a:prstGeom prst="rect">
            <a:avLst/>
          </a:prstGeom>
          <a:noFill/>
          <a:ln w="0">
            <a:noFill/>
          </a:ln>
        </p:spPr>
        <p:txBody>
          <a:bodyPr lIns="91440" tIns="91440" rIns="91440" bIns="91440" anchor="t">
            <a:noAutofit/>
          </a:bodyPr>
          <a:p>
            <a:pPr marL="431800" indent="-323850">
              <a:spcBef>
                <a:spcPts val="141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24" name="PlaceHolder 1"/>
          <p:cNvSpPr>
            <a:spLocks noGrp="1"/>
          </p:cNvSpPr>
          <p:nvPr>
            <p:ph type="title" hasCustomPrompt="1"/>
          </p:nvPr>
        </p:nvSpPr>
        <p:spPr>
          <a:xfrm>
            <a:off x="228600" y="228600"/>
            <a:ext cx="86864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25" name="PlaceHolder 2"/>
          <p:cNvSpPr>
            <a:spLocks noGrp="1"/>
          </p:cNvSpPr>
          <p:nvPr>
            <p:ph type="body" hasCustomPrompt="1"/>
          </p:nvPr>
        </p:nvSpPr>
        <p:spPr>
          <a:xfrm>
            <a:off x="228960" y="2807640"/>
            <a:ext cx="3693240" cy="1865520"/>
          </a:xfrm>
          <a:prstGeom prst="rect">
            <a:avLst/>
          </a:prstGeom>
          <a:noFill/>
          <a:ln w="9360">
            <a:solidFill>
              <a:schemeClr val="dk1"/>
            </a:solidFill>
            <a:round/>
          </a:ln>
        </p:spPr>
        <p:txBody>
          <a:bodyPr lIns="90000" tIns="45000" rIns="90000" bIns="45000" anchor="t">
            <a:normAutofit fontScale="77500" lnSpcReduction="19999"/>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26" name="PlaceHolder 1"/>
          <p:cNvSpPr>
            <a:spLocks noGrp="1"/>
          </p:cNvSpPr>
          <p:nvPr>
            <p:ph type="title" hasCustomPrompt="1"/>
          </p:nvPr>
        </p:nvSpPr>
        <p:spPr>
          <a:xfrm>
            <a:off x="228600" y="228600"/>
            <a:ext cx="86864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title" hasCustomPrompt="1"/>
          </p:nvPr>
        </p:nvSpPr>
        <p:spPr>
          <a:xfrm>
            <a:off x="720000" y="444960"/>
            <a:ext cx="476352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1768680" y="1307160"/>
            <a:ext cx="5606640" cy="252900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2135520" y="1441800"/>
            <a:ext cx="4872600" cy="1186920"/>
          </a:xfrm>
          <a:prstGeom prst="rect">
            <a:avLst/>
          </a:prstGeom>
          <a:noFill/>
          <a:ln w="0">
            <a:noFill/>
          </a:ln>
        </p:spPr>
        <p:txBody>
          <a:bodyPr lIns="91440" tIns="91440" rIns="91440" bIns="91440" anchor="b">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
        <p:nvSpPr>
          <p:cNvPr id="31" name="PlaceHolder 2"/>
          <p:cNvSpPr>
            <a:spLocks noGrp="1"/>
          </p:cNvSpPr>
          <p:nvPr>
            <p:ph type="title" hasCustomPrompt="1"/>
          </p:nvPr>
        </p:nvSpPr>
        <p:spPr>
          <a:xfrm>
            <a:off x="720000" y="4014360"/>
            <a:ext cx="7703640" cy="572400"/>
          </a:xfrm>
          <a:prstGeom prst="rect">
            <a:avLst/>
          </a:prstGeom>
          <a:solidFill>
            <a:schemeClr val="lt1"/>
          </a:solidFill>
          <a:ln w="0">
            <a:noFill/>
          </a:ln>
        </p:spPr>
        <p:txBody>
          <a:bodyPr lIns="91440" tIns="91440" rIns="91440" bIns="91440" anchor="t">
            <a:noAutofit/>
          </a:bodyPr>
          <a:p>
            <a:pPr indent="0">
              <a:buNone/>
            </a:pPr>
            <a:r>
              <a:rPr lang="fr-FR" sz="2500" b="0" u="none" strike="noStrike">
                <a:solidFill>
                  <a:schemeClr val="dk1"/>
                </a:solidFill>
                <a:effectLst/>
                <a:uFillTx/>
                <a:latin typeface="Arial" panose="020B0604020202020204"/>
              </a:rPr>
              <a:t>Click to edit the title text format</a:t>
            </a:r>
            <a:endParaRPr lang="fr-FR" sz="2500" b="0" u="none" strike="noStrike">
              <a:solidFill>
                <a:schemeClr val="dk1"/>
              </a:solidFill>
              <a:effectLst/>
              <a:uFillTx/>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32" name="Google Shape;94;p23"/>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PlaceHolder 1"/>
          <p:cNvSpPr>
            <a:spLocks noGrp="1"/>
          </p:cNvSpPr>
          <p:nvPr>
            <p:ph type="title" hasCustomPrompt="1"/>
          </p:nvPr>
        </p:nvSpPr>
        <p:spPr>
          <a:xfrm>
            <a:off x="713160" y="539640"/>
            <a:ext cx="771732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34" name="Google Shape;97;p24"/>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PlaceHolder 1"/>
          <p:cNvSpPr>
            <a:spLocks noGrp="1"/>
          </p:cNvSpPr>
          <p:nvPr>
            <p:ph type="title" hasCustomPrompt="1"/>
          </p:nvPr>
        </p:nvSpPr>
        <p:spPr>
          <a:xfrm>
            <a:off x="728640" y="539640"/>
            <a:ext cx="334728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
        <p:nvSpPr>
          <p:cNvPr id="36" name="PlaceHolder 2"/>
          <p:cNvSpPr>
            <a:spLocks noGrp="1"/>
          </p:cNvSpPr>
          <p:nvPr>
            <p:ph type="title" hasCustomPrompt="1"/>
          </p:nvPr>
        </p:nvSpPr>
        <p:spPr>
          <a:xfrm>
            <a:off x="4977720" y="539640"/>
            <a:ext cx="345816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228600" y="447840"/>
            <a:ext cx="7724520" cy="2428560"/>
          </a:xfrm>
          <a:prstGeom prst="rect">
            <a:avLst/>
          </a:prstGeom>
          <a:noFill/>
          <a:ln w="0">
            <a:noFill/>
          </a:ln>
        </p:spPr>
        <p:txBody>
          <a:bodyPr lIns="91440" tIns="91440" rIns="91440" bIns="91440" anchor="b">
            <a:normAutofit/>
          </a:bodyPr>
          <a:p>
            <a:pPr indent="0">
              <a:lnSpc>
                <a:spcPct val="100000"/>
              </a:lnSpc>
              <a:buNone/>
              <a:tabLst>
                <a:tab pos="0" algn="l"/>
              </a:tabLst>
            </a:pPr>
            <a:r>
              <a:rPr lang="en-US" sz="7700" b="1" u="none" strike="noStrike">
                <a:solidFill>
                  <a:schemeClr val="dk1"/>
                </a:solidFill>
                <a:effectLst/>
                <a:uFillTx/>
                <a:latin typeface="Space Grotesk"/>
                <a:ea typeface="Space Grotesk"/>
              </a:rPr>
              <a:t>Sales Insights</a:t>
            </a:r>
            <a:endParaRPr lang="fr-FR" sz="7700" b="0" u="none" strike="noStrike">
              <a:solidFill>
                <a:schemeClr val="dk1"/>
              </a:solidFill>
              <a:effectLst/>
              <a:uFillTx/>
              <a:latin typeface="Arial" panose="020B0604020202020204"/>
            </a:endParaRPr>
          </a:p>
        </p:txBody>
      </p:sp>
      <p:sp>
        <p:nvSpPr>
          <p:cNvPr id="38" name="PlaceHolder 2"/>
          <p:cNvSpPr>
            <a:spLocks noGrp="1"/>
          </p:cNvSpPr>
          <p:nvPr>
            <p:ph type="subTitle"/>
          </p:nvPr>
        </p:nvSpPr>
        <p:spPr>
          <a:xfrm>
            <a:off x="2676600" y="3009960"/>
            <a:ext cx="6238440" cy="828360"/>
          </a:xfrm>
          <a:prstGeom prst="rect">
            <a:avLst/>
          </a:prstGeom>
          <a:noFill/>
          <a:ln w="0">
            <a:noFill/>
          </a:ln>
        </p:spPr>
        <p:txBody>
          <a:bodyPr lIns="91440" tIns="91440" rIns="91440" bIns="91440" anchor="b">
            <a:normAutofit/>
          </a:bodyPr>
          <a:p>
            <a:pPr indent="0" algn="r">
              <a:lnSpc>
                <a:spcPct val="100000"/>
              </a:lnSpc>
              <a:buNone/>
              <a:tabLst>
                <a:tab pos="0" algn="l"/>
              </a:tabLst>
            </a:pPr>
            <a:r>
              <a:rPr lang="en-US" sz="1600" b="0" u="none" strike="noStrike">
                <a:solidFill>
                  <a:schemeClr val="dk1"/>
                </a:solidFill>
                <a:effectLst/>
                <a:uFillTx/>
                <a:latin typeface="Hind"/>
                <a:ea typeface="Hind"/>
              </a:rPr>
              <a:t>Data-Driven Analysis and Strategy</a:t>
            </a:r>
            <a:endParaRPr lang="en-US" sz="1600" b="0" u="none" strike="noStrike">
              <a:solidFill>
                <a:srgbClr val="FFFFFF"/>
              </a:solidFill>
              <a:effectLst/>
              <a:uFillTx/>
              <a:latin typeface="OpenSymbol"/>
            </a:endParaRPr>
          </a:p>
        </p:txBody>
      </p:sp>
      <p:sp>
        <p:nvSpPr>
          <p:cNvPr id="39" name="Google Shape;106;p25"/>
          <p:cNvSpPr/>
          <p:nvPr/>
        </p:nvSpPr>
        <p:spPr>
          <a:xfrm>
            <a:off x="8182080" y="228600"/>
            <a:ext cx="732960" cy="3711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ct val="100000"/>
              </a:lnSpc>
              <a:tabLst>
                <a:tab pos="0" algn="l"/>
              </a:tabLst>
            </a:pPr>
            <a:r>
              <a:rPr lang="en-GB" sz="1200" b="1" u="none" strike="noStrike">
                <a:solidFill>
                  <a:schemeClr val="dk1"/>
                </a:solidFill>
                <a:effectLst/>
                <a:uFillTx/>
                <a:latin typeface="Arial" panose="020B0604020202020204"/>
              </a:rPr>
              <a:t>Your Logo</a:t>
            </a:r>
            <a:endParaRPr lang="en-US" sz="1200" b="0" u="none" strike="noStrike">
              <a:solidFill>
                <a:srgbClr val="FFFFFF"/>
              </a:solidFill>
              <a:effectLst/>
              <a:uFillTx/>
              <a:latin typeface="OpenSymbol"/>
            </a:endParaRPr>
          </a:p>
        </p:txBody>
      </p:sp>
      <p:sp>
        <p:nvSpPr>
          <p:cNvPr id="40" name="Google Shape;107;p25"/>
          <p:cNvSpPr/>
          <p:nvPr/>
        </p:nvSpPr>
        <p:spPr>
          <a:xfrm rot="16200000">
            <a:off x="-304560" y="3972240"/>
            <a:ext cx="828360" cy="1234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ct val="100000"/>
              </a:lnSpc>
              <a:tabLst>
                <a:tab pos="0" algn="l"/>
              </a:tabLst>
            </a:pPr>
            <a:r>
              <a:rPr lang="en-GB" sz="800" b="0" u="none" strike="noStrike">
                <a:solidFill>
                  <a:schemeClr val="dk1"/>
                </a:solidFill>
                <a:effectLst/>
                <a:uFillTx/>
                <a:latin typeface="Arial" panose="020B0604020202020204"/>
              </a:rPr>
              <a:t>MM/DD/20XX</a:t>
            </a:r>
            <a:endParaRPr lang="en-US" sz="800" b="0" u="none" strike="noStrike">
              <a:solidFill>
                <a:srgbClr val="FFFFFF"/>
              </a:solidFill>
              <a:effectLst/>
              <a:uFillTx/>
              <a:latin typeface="OpenSymbol"/>
            </a:endParaRPr>
          </a:p>
        </p:txBody>
      </p:sp>
      <p:cxnSp>
        <p:nvCxnSpPr>
          <p:cNvPr id="41" name="Google Shape;108;p25"/>
          <p:cNvCxnSpPr/>
          <p:nvPr/>
        </p:nvCxnSpPr>
        <p:spPr>
          <a:xfrm>
            <a:off x="114120" y="4451760"/>
            <a:ext cx="360" cy="749160"/>
          </a:xfrm>
          <a:prstGeom prst="straightConnector1">
            <a:avLst/>
          </a:prstGeom>
          <a:ln w="9525">
            <a:solidFill>
              <a:srgbClr val="FFFFFF"/>
            </a:solidFill>
            <a:round/>
          </a:ln>
        </p:spPr>
      </p:cxnSp>
      <p:cxnSp>
        <p:nvCxnSpPr>
          <p:cNvPr id="42" name="Google Shape;109;p25"/>
          <p:cNvCxnSpPr/>
          <p:nvPr/>
        </p:nvCxnSpPr>
        <p:spPr>
          <a:xfrm>
            <a:off x="5219280" y="3838320"/>
            <a:ext cx="3696480" cy="360"/>
          </a:xfrm>
          <a:prstGeom prst="straightConnector1">
            <a:avLst/>
          </a:prstGeom>
          <a:ln w="9525">
            <a:solidFill>
              <a:srgbClr val="FFFFFF"/>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Introduction</a:t>
            </a:r>
            <a:endParaRPr lang="fr-FR" sz="2600" b="0" u="none" strike="noStrike">
              <a:solidFill>
                <a:schemeClr val="dk1"/>
              </a:solidFill>
              <a:effectLst/>
              <a:uFillTx/>
              <a:latin typeface="Arial" panose="020B0604020202020204"/>
            </a:endParaRPr>
          </a:p>
        </p:txBody>
      </p:sp>
      <p:sp>
        <p:nvSpPr>
          <p:cNvPr id="44"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This presentation explores the use of </a:t>
            </a:r>
            <a:r>
              <a:rPr lang="en-US" sz="1200" b="0" i="1" u="none" strike="noStrike">
                <a:solidFill>
                  <a:schemeClr val="dk1"/>
                </a:solidFill>
                <a:effectLst/>
                <a:uFillTx/>
                <a:latin typeface="Hind"/>
                <a:ea typeface="Hind"/>
              </a:rPr>
              <a:t>Exploratory Data Analysis</a:t>
            </a:r>
            <a:r>
              <a:rPr lang="en-US" sz="1200" b="0" u="none" strike="noStrike">
                <a:solidFill>
                  <a:schemeClr val="dk1"/>
                </a:solidFill>
                <a:effectLst/>
                <a:uFillTx/>
                <a:latin typeface="Hind"/>
                <a:ea typeface="Hind"/>
              </a:rPr>
              <a:t> (EDA) to extract actionable sales insights. The analysis focuses on revealing patterns in sales data through rigorous data cleaning, preprocessing, and visualization. The goal is to support strategic decisions that foster business growth and enhance stakeholder understanding.</a:t>
            </a:r>
            <a:endParaRPr lang="en-US" sz="1200" b="0" u="none" strike="noStrike">
              <a:solidFill>
                <a:srgbClr val="FFFFFF"/>
              </a:solidFill>
              <a:effectLst/>
              <a:uFillTx/>
              <a:latin typeface="OpenSymbol"/>
            </a:endParaRPr>
          </a:p>
        </p:txBody>
      </p:sp>
      <p:pic>
        <p:nvPicPr>
          <p:cNvPr id="45"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Project Overview and Methodology</a:t>
            </a:r>
            <a:endParaRPr lang="fr-FR" sz="2600" b="0" u="none" strike="noStrike">
              <a:solidFill>
                <a:schemeClr val="dk1"/>
              </a:solidFill>
              <a:effectLst/>
              <a:uFillTx/>
              <a:latin typeface="Arial" panose="020B0604020202020204"/>
            </a:endParaRPr>
          </a:p>
        </p:txBody>
      </p:sp>
      <p:sp>
        <p:nvSpPr>
          <p:cNvPr id="47"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Objectives and Deliverables</a:t>
            </a:r>
            <a:endParaRPr lang="fr-FR" sz="2600" b="0" u="none" strike="noStrike">
              <a:solidFill>
                <a:schemeClr val="dk1"/>
              </a:solidFill>
              <a:effectLst/>
              <a:uFillTx/>
              <a:latin typeface="Arial" panose="020B0604020202020204"/>
            </a:endParaRPr>
          </a:p>
        </p:txBody>
      </p:sp>
      <p:sp>
        <p:nvSpPr>
          <p:cNvPr id="49"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The project aims to deliver a thoroughly cleaned dataset, insightful analysis, and a concise summary presentation. These deliverables enable data-driven decision-making to optimize sales strategies and improve business outcomes.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Data Cleaning and Preprocessing</a:t>
            </a:r>
            <a:endParaRPr lang="fr-FR" sz="2600" b="0" u="none" strike="noStrike">
              <a:solidFill>
                <a:schemeClr val="dk1"/>
              </a:solidFill>
              <a:effectLst/>
              <a:uFillTx/>
              <a:latin typeface="Arial" panose="020B0604020202020204"/>
            </a:endParaRPr>
          </a:p>
        </p:txBody>
      </p:sp>
      <p:sp>
        <p:nvSpPr>
          <p:cNvPr id="51"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The analysis begins with rigorous data cleaning and preprocessing to ensure data quality. This phase involves removing inconsistencies and preparing the data for reliable visualization and interpretation using advanced Python libraries.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Analytical Tools and Approach</a:t>
            </a:r>
            <a:endParaRPr lang="fr-FR" sz="2600" b="0" u="none" strike="noStrike">
              <a:solidFill>
                <a:schemeClr val="dk1"/>
              </a:solidFill>
              <a:effectLst/>
              <a:uFillTx/>
              <a:latin typeface="Arial" panose="020B0604020202020204"/>
            </a:endParaRPr>
          </a:p>
        </p:txBody>
      </p:sp>
      <p:sp>
        <p:nvSpPr>
          <p:cNvPr id="53"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The project employs Pythons data analytics libraries for visualization and analysis. This systematic approach ensures accuracy and depth, promoting insights that reflect true sales dynamics and customer behavior.</a:t>
            </a:r>
            <a:endParaRPr lang="en-US" sz="1200" b="0" u="none" strike="noStrike">
              <a:solidFill>
                <a:srgbClr val="FFFFFF"/>
              </a:solidFill>
              <a:effectLst/>
              <a:uFillTx/>
              <a:latin typeface="OpenSymbol"/>
            </a:endParaRPr>
          </a:p>
        </p:txBody>
      </p:sp>
      <p:pic>
        <p:nvPicPr>
          <p:cNvPr id="54"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Product Category Sales Analysis</a:t>
            </a:r>
            <a:endParaRPr lang="fr-FR" sz="2600" b="0" u="none" strike="noStrike">
              <a:solidFill>
                <a:schemeClr val="dk1"/>
              </a:solidFill>
              <a:effectLst/>
              <a:uFillTx/>
              <a:latin typeface="Arial" panose="020B0604020202020204"/>
            </a:endParaRPr>
          </a:p>
        </p:txBody>
      </p:sp>
      <p:sp>
        <p:nvSpPr>
          <p:cNvPr id="56"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Price Distribution and Median Pricing</a:t>
            </a:r>
            <a:endParaRPr lang="fr-FR" sz="2600" b="0" u="none" strike="noStrike">
              <a:solidFill>
                <a:schemeClr val="dk1"/>
              </a:solidFill>
              <a:effectLst/>
              <a:uFillTx/>
              <a:latin typeface="Arial" panose="020B0604020202020204"/>
            </a:endParaRPr>
          </a:p>
        </p:txBody>
      </p:sp>
      <p:sp>
        <p:nvSpPr>
          <p:cNvPr id="58"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Price analysis reveals a consistent median price of 50 across all product categories. This uniform pricing indicates a balanced strategy that may influence consumer buying patterns by maintaining competitive market positioning.</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Transaction Volume by Category</a:t>
            </a:r>
            <a:endParaRPr lang="fr-FR" sz="2600" b="0" u="none" strike="noStrike">
              <a:solidFill>
                <a:schemeClr val="dk1"/>
              </a:solidFill>
              <a:effectLst/>
              <a:uFillTx/>
              <a:latin typeface="Arial" panose="020B0604020202020204"/>
            </a:endParaRPr>
          </a:p>
        </p:txBody>
      </p:sp>
      <p:sp>
        <p:nvSpPr>
          <p:cNvPr id="60"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Clothing leads in transaction volume with 351 sales, followed closely by Electronics at 342. These figures highlight consumer preferences that can inform inventory management and targeted marketing initiatives.</a:t>
            </a:r>
            <a:endParaRPr lang="en-US" sz="1200" b="0" u="none" strike="noStrike">
              <a:solidFill>
                <a:srgbClr val="FFFFFF"/>
              </a:solidFill>
              <a:effectLst/>
              <a:uFillTx/>
              <a:latin typeface="OpenSymbol"/>
            </a:endParaRPr>
          </a:p>
        </p:txBody>
      </p:sp>
      <p:pic>
        <p:nvPicPr>
          <p:cNvPr id="61"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Revenue Contribution Comparison</a:t>
            </a:r>
            <a:endParaRPr lang="fr-FR" sz="2600" b="0" u="none" strike="noStrike">
              <a:solidFill>
                <a:schemeClr val="dk1"/>
              </a:solidFill>
              <a:effectLst/>
              <a:uFillTx/>
              <a:latin typeface="Arial" panose="020B0604020202020204"/>
            </a:endParaRPr>
          </a:p>
        </p:txBody>
      </p:sp>
      <p:sp>
        <p:nvSpPr>
          <p:cNvPr id="63"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Although Clothing recorded the highest transaction volume, Electronics outperforms it in total revenue, generating approximately </a:t>
            </a:r>
            <a:r>
              <a:rPr lang="en-US" sz="1200" b="1" u="none" strike="noStrike">
                <a:solidFill>
                  <a:schemeClr val="dk1"/>
                </a:solidFill>
                <a:effectLst/>
                <a:uFillTx/>
                <a:latin typeface="Hind"/>
                <a:ea typeface="Hind"/>
              </a:rPr>
              <a:t>$7,156,905</a:t>
            </a:r>
            <a:r>
              <a:rPr lang="en-US" sz="1200" b="0" u="none" strike="noStrike">
                <a:solidFill>
                  <a:schemeClr val="dk1"/>
                </a:solidFill>
                <a:effectLst/>
                <a:uFillTx/>
                <a:latin typeface="Hind"/>
                <a:ea typeface="Hind"/>
              </a:rPr>
              <a:t> compared to Clothing’s </a:t>
            </a:r>
            <a:r>
              <a:rPr lang="en-US" sz="1200" b="1" u="none" strike="noStrike">
                <a:solidFill>
                  <a:schemeClr val="dk1"/>
                </a:solidFill>
                <a:effectLst/>
                <a:uFillTx/>
                <a:latin typeface="Hind"/>
                <a:ea typeface="Hind"/>
              </a:rPr>
              <a:t>$7,155,580</a:t>
            </a:r>
            <a:r>
              <a:rPr lang="en-US" sz="1200" b="0" u="none" strike="noStrike">
                <a:solidFill>
                  <a:schemeClr val="dk1"/>
                </a:solidFill>
                <a:effectLst/>
                <a:uFillTx/>
                <a:latin typeface="Hind"/>
                <a:ea typeface="Hind"/>
              </a:rPr>
              <a:t>. This indicates that Electronics sales, while fewer, have higher value, emphasizing the need to focus on both transaction counts and revenue contribution for balanced strategy development.</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Customer Demographics and Behavior</a:t>
            </a:r>
            <a:endParaRPr lang="fr-FR" sz="2600" b="0" u="none" strike="noStrike">
              <a:solidFill>
                <a:schemeClr val="dk1"/>
              </a:solidFill>
              <a:effectLst/>
              <a:uFillTx/>
              <a:latin typeface="Arial" panose="020B0604020202020204"/>
            </a:endParaRPr>
          </a:p>
        </p:txBody>
      </p:sp>
      <p:sp>
        <p:nvSpPr>
          <p:cNvPr id="65"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Gender-Based Revenue Contribution</a:t>
            </a:r>
            <a:endParaRPr lang="fr-FR" sz="2600" b="0" u="none" strike="noStrike">
              <a:solidFill>
                <a:schemeClr val="dk1"/>
              </a:solidFill>
              <a:effectLst/>
              <a:uFillTx/>
              <a:latin typeface="Arial" panose="020B0604020202020204"/>
            </a:endParaRPr>
          </a:p>
        </p:txBody>
      </p:sp>
      <p:sp>
        <p:nvSpPr>
          <p:cNvPr id="67"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Revenue generation is nearly balanced between genders, with females contributing slightly more at around </a:t>
            </a:r>
            <a:r>
              <a:rPr lang="en-US" sz="1200" b="1" u="none" strike="noStrike">
                <a:solidFill>
                  <a:schemeClr val="dk1"/>
                </a:solidFill>
                <a:effectLst/>
                <a:uFillTx/>
                <a:latin typeface="Hind"/>
                <a:ea typeface="Hind"/>
              </a:rPr>
              <a:t>$220,000</a:t>
            </a:r>
            <a:r>
              <a:rPr lang="en-US" sz="1200" b="0" u="none" strike="noStrike">
                <a:solidFill>
                  <a:schemeClr val="dk1"/>
                </a:solidFill>
                <a:effectLst/>
                <a:uFillTx/>
                <a:latin typeface="Hind"/>
                <a:ea typeface="Hind"/>
              </a:rPr>
              <a:t>, compared to males at </a:t>
            </a:r>
            <a:r>
              <a:rPr lang="en-US" sz="1200" b="1" u="none" strike="noStrike">
                <a:solidFill>
                  <a:schemeClr val="dk1"/>
                </a:solidFill>
                <a:effectLst/>
                <a:uFillTx/>
                <a:latin typeface="Hind"/>
                <a:ea typeface="Hind"/>
              </a:rPr>
              <a:t>$215,000</a:t>
            </a:r>
            <a:r>
              <a:rPr lang="en-US" sz="1200" b="0" u="none" strike="noStrike">
                <a:solidFill>
                  <a:schemeClr val="dk1"/>
                </a:solidFill>
                <a:effectLst/>
                <a:uFillTx/>
                <a:latin typeface="Hind"/>
                <a:ea typeface="Hind"/>
              </a:rPr>
              <a:t>. This close split supports the development of marketing strategies tailored to both genders, reinforcing balanced outreach and engagement efforts.</a:t>
            </a:r>
            <a:endParaRPr lang="en-US" sz="1200" b="0" u="none" strike="noStrike">
              <a:solidFill>
                <a:srgbClr val="FFFFFF"/>
              </a:solidFill>
              <a:effectLst/>
              <a:uFillTx/>
              <a:latin typeface="OpenSymbol"/>
            </a:endParaRPr>
          </a:p>
        </p:txBody>
      </p:sp>
      <p:pic>
        <p:nvPicPr>
          <p:cNvPr id="68"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Age Group Revenue Insights</a:t>
            </a:r>
            <a:endParaRPr lang="fr-FR" sz="2600" b="0" u="none" strike="noStrike">
              <a:solidFill>
                <a:schemeClr val="dk1"/>
              </a:solidFill>
              <a:effectLst/>
              <a:uFillTx/>
              <a:latin typeface="Arial" panose="020B0604020202020204"/>
            </a:endParaRPr>
          </a:p>
        </p:txBody>
      </p:sp>
      <p:sp>
        <p:nvSpPr>
          <p:cNvPr id="70"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The age groups </a:t>
            </a:r>
            <a:r>
              <a:rPr lang="en-US" sz="1200" b="1" u="none" strike="noStrike">
                <a:solidFill>
                  <a:schemeClr val="dk1"/>
                </a:solidFill>
                <a:effectLst/>
                <a:uFillTx/>
                <a:latin typeface="Hind"/>
                <a:ea typeface="Hind"/>
              </a:rPr>
              <a:t>25-34</a:t>
            </a:r>
            <a:r>
              <a:rPr lang="en-US" sz="1200" b="0" u="none" strike="noStrike">
                <a:solidFill>
                  <a:schemeClr val="dk1"/>
                </a:solidFill>
                <a:effectLst/>
                <a:uFillTx/>
                <a:latin typeface="Hind"/>
                <a:ea typeface="Hind"/>
              </a:rPr>
              <a:t>, </a:t>
            </a:r>
            <a:r>
              <a:rPr lang="en-US" sz="1200" b="1" u="none" strike="noStrike">
                <a:solidFill>
                  <a:schemeClr val="dk1"/>
                </a:solidFill>
                <a:effectLst/>
                <a:uFillTx/>
                <a:latin typeface="Hind"/>
                <a:ea typeface="Hind"/>
              </a:rPr>
              <a:t>35-44</a:t>
            </a:r>
            <a:r>
              <a:rPr lang="en-US" sz="1200" b="0" u="none" strike="noStrike">
                <a:solidFill>
                  <a:schemeClr val="dk1"/>
                </a:solidFill>
                <a:effectLst/>
                <a:uFillTx/>
                <a:latin typeface="Hind"/>
                <a:ea typeface="Hind"/>
              </a:rPr>
              <a:t>, and </a:t>
            </a:r>
            <a:r>
              <a:rPr lang="en-US" sz="1200" b="1" u="none" strike="noStrike">
                <a:solidFill>
                  <a:schemeClr val="dk1"/>
                </a:solidFill>
                <a:effectLst/>
                <a:uFillTx/>
                <a:latin typeface="Hind"/>
                <a:ea typeface="Hind"/>
              </a:rPr>
              <a:t>45-54</a:t>
            </a:r>
            <a:r>
              <a:rPr lang="en-US" sz="1200" b="0" u="none" strike="noStrike">
                <a:solidFill>
                  <a:schemeClr val="dk1"/>
                </a:solidFill>
                <a:effectLst/>
                <a:uFillTx/>
                <a:latin typeface="Hind"/>
                <a:ea typeface="Hind"/>
              </a:rPr>
              <a:t> are the top revenue contributors, each generating close to </a:t>
            </a:r>
            <a:r>
              <a:rPr lang="en-US" sz="1200" b="1" u="none" strike="noStrike">
                <a:solidFill>
                  <a:schemeClr val="dk1"/>
                </a:solidFill>
                <a:effectLst/>
                <a:uFillTx/>
                <a:latin typeface="Hind"/>
                <a:ea typeface="Hind"/>
              </a:rPr>
              <a:t>$100,000</a:t>
            </a:r>
            <a:r>
              <a:rPr lang="en-US" sz="1200" b="0" u="none" strike="noStrike">
                <a:solidFill>
                  <a:schemeClr val="dk1"/>
                </a:solidFill>
                <a:effectLst/>
                <a:uFillTx/>
                <a:latin typeface="Hind"/>
                <a:ea typeface="Hind"/>
              </a:rPr>
              <a:t>. Targeted marketing and product offerings focused on these segments can optimize revenue generation, aligning with consumer spending behaviors in these key demographics.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Spending Preferences by Gender and Category</a:t>
            </a:r>
            <a:endParaRPr lang="fr-FR" sz="2600" b="0" u="none" strike="noStrike">
              <a:solidFill>
                <a:schemeClr val="dk1"/>
              </a:solidFill>
              <a:effectLst/>
              <a:uFillTx/>
              <a:latin typeface="Arial" panose="020B0604020202020204"/>
            </a:endParaRPr>
          </a:p>
        </p:txBody>
      </p:sp>
      <p:sp>
        <p:nvSpPr>
          <p:cNvPr id="72"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Both males and females show a distinct preference for </a:t>
            </a:r>
            <a:r>
              <a:rPr lang="en-US" sz="1200" b="0" i="1" u="none" strike="noStrike">
                <a:solidFill>
                  <a:schemeClr val="dk1"/>
                </a:solidFill>
                <a:effectLst/>
                <a:uFillTx/>
                <a:latin typeface="Hind"/>
                <a:ea typeface="Hind"/>
              </a:rPr>
              <a:t>Electronics</a:t>
            </a:r>
            <a:r>
              <a:rPr lang="en-US" sz="1200" b="0" u="none" strike="noStrike">
                <a:solidFill>
                  <a:schemeClr val="dk1"/>
                </a:solidFill>
                <a:effectLst/>
                <a:uFillTx/>
                <a:latin typeface="Hind"/>
                <a:ea typeface="Hind"/>
              </a:rPr>
              <a:t> and </a:t>
            </a:r>
            <a:r>
              <a:rPr lang="en-US" sz="1200" b="0" i="1" u="none" strike="noStrike">
                <a:solidFill>
                  <a:schemeClr val="dk1"/>
                </a:solidFill>
                <a:effectLst/>
                <a:uFillTx/>
                <a:latin typeface="Hind"/>
                <a:ea typeface="Hind"/>
              </a:rPr>
              <a:t>Clothing</a:t>
            </a:r>
            <a:r>
              <a:rPr lang="en-US" sz="1200" b="0" u="none" strike="noStrike">
                <a:solidFill>
                  <a:schemeClr val="dk1"/>
                </a:solidFill>
                <a:effectLst/>
                <a:uFillTx/>
                <a:latin typeface="Hind"/>
                <a:ea typeface="Hind"/>
              </a:rPr>
              <a:t> categories over </a:t>
            </a:r>
            <a:r>
              <a:rPr lang="en-US" sz="1200" b="0" i="1" u="none" strike="noStrike">
                <a:solidFill>
                  <a:schemeClr val="dk1"/>
                </a:solidFill>
                <a:effectLst/>
                <a:uFillTx/>
                <a:latin typeface="Hind"/>
                <a:ea typeface="Hind"/>
              </a:rPr>
              <a:t>Beauty</a:t>
            </a:r>
            <a:r>
              <a:rPr lang="en-US" sz="1200" b="0" u="none" strike="noStrike">
                <a:solidFill>
                  <a:schemeClr val="dk1"/>
                </a:solidFill>
                <a:effectLst/>
                <a:uFillTx/>
                <a:latin typeface="Hind"/>
                <a:ea typeface="Hind"/>
              </a:rPr>
              <a:t>. Understanding these preferences is vital for designing targeted promotions and campaigns that resonate well with consumer interests and maximize sales in favored categories.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Temporal and Segmented Sales Trends</a:t>
            </a:r>
            <a:endParaRPr lang="fr-FR" sz="2600" b="0" u="none" strike="noStrike">
              <a:solidFill>
                <a:schemeClr val="dk1"/>
              </a:solidFill>
              <a:effectLst/>
              <a:uFillTx/>
              <a:latin typeface="Arial" panose="020B0604020202020204"/>
            </a:endParaRPr>
          </a:p>
        </p:txBody>
      </p:sp>
      <p:sp>
        <p:nvSpPr>
          <p:cNvPr id="74"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Monthly Revenue Fluctuations and Seasonality</a:t>
            </a:r>
            <a:endParaRPr lang="fr-FR" sz="2600" b="0" u="none" strike="noStrike">
              <a:solidFill>
                <a:schemeClr val="dk1"/>
              </a:solidFill>
              <a:effectLst/>
              <a:uFillTx/>
              <a:latin typeface="Arial" panose="020B0604020202020204"/>
            </a:endParaRPr>
          </a:p>
        </p:txBody>
      </p:sp>
      <p:sp>
        <p:nvSpPr>
          <p:cNvPr id="76"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Sales revenue exhibits notable peaks in </a:t>
            </a:r>
            <a:r>
              <a:rPr lang="en-US" sz="1200" b="1" u="none" strike="noStrike">
                <a:solidFill>
                  <a:schemeClr val="dk1"/>
                </a:solidFill>
                <a:effectLst/>
                <a:uFillTx/>
                <a:latin typeface="Hind"/>
                <a:ea typeface="Hind"/>
              </a:rPr>
              <a:t>May</a:t>
            </a:r>
            <a:r>
              <a:rPr lang="en-US" sz="1200" b="0" u="none" strike="noStrike">
                <a:solidFill>
                  <a:schemeClr val="dk1"/>
                </a:solidFill>
                <a:effectLst/>
                <a:uFillTx/>
                <a:latin typeface="Hind"/>
                <a:ea typeface="Hind"/>
              </a:rPr>
              <a:t> and </a:t>
            </a:r>
            <a:r>
              <a:rPr lang="en-US" sz="1200" b="1" u="none" strike="noStrike">
                <a:solidFill>
                  <a:schemeClr val="dk1"/>
                </a:solidFill>
                <a:effectLst/>
                <a:uFillTx/>
                <a:latin typeface="Hind"/>
                <a:ea typeface="Hind"/>
              </a:rPr>
              <a:t>October</a:t>
            </a:r>
            <a:r>
              <a:rPr lang="en-US" sz="1200" b="0" u="none" strike="noStrike">
                <a:solidFill>
                  <a:schemeClr val="dk1"/>
                </a:solidFill>
                <a:effectLst/>
                <a:uFillTx/>
                <a:latin typeface="Hind"/>
                <a:ea typeface="Hind"/>
              </a:rPr>
              <a:t>, suggesting seasonal influences or successful promotional campaigns during these months. Conversely, dips in </a:t>
            </a:r>
            <a:r>
              <a:rPr lang="en-US" sz="1200" b="1" u="none" strike="noStrike">
                <a:solidFill>
                  <a:schemeClr val="dk1"/>
                </a:solidFill>
                <a:effectLst/>
                <a:uFillTx/>
                <a:latin typeface="Hind"/>
                <a:ea typeface="Hind"/>
              </a:rPr>
              <a:t>March</a:t>
            </a:r>
            <a:r>
              <a:rPr lang="en-US" sz="1200" b="0" u="none" strike="noStrike">
                <a:solidFill>
                  <a:schemeClr val="dk1"/>
                </a:solidFill>
                <a:effectLst/>
                <a:uFillTx/>
                <a:latin typeface="Hind"/>
                <a:ea typeface="Hind"/>
              </a:rPr>
              <a:t> and </a:t>
            </a:r>
            <a:r>
              <a:rPr lang="en-US" sz="1200" b="1" u="none" strike="noStrike">
                <a:solidFill>
                  <a:schemeClr val="dk1"/>
                </a:solidFill>
                <a:effectLst/>
                <a:uFillTx/>
                <a:latin typeface="Hind"/>
                <a:ea typeface="Hind"/>
              </a:rPr>
              <a:t>September</a:t>
            </a:r>
            <a:r>
              <a:rPr lang="en-US" sz="1200" b="0" u="none" strike="noStrike">
                <a:solidFill>
                  <a:schemeClr val="dk1"/>
                </a:solidFill>
                <a:effectLst/>
                <a:uFillTx/>
                <a:latin typeface="Hind"/>
                <a:ea typeface="Hind"/>
              </a:rPr>
              <a:t> highlight periods needing targeted strategies to boost sales during traditionally lower-activity months.</a:t>
            </a:r>
            <a:endParaRPr lang="en-US" sz="1200" b="0" u="none" strike="noStrike">
              <a:solidFill>
                <a:srgbClr val="FFFFFF"/>
              </a:solidFill>
              <a:effectLst/>
              <a:uFillTx/>
              <a:latin typeface="OpenSymbol"/>
            </a:endParaRPr>
          </a:p>
        </p:txBody>
      </p:sp>
      <p:pic>
        <p:nvPicPr>
          <p:cNvPr id="77"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Daily Spending Patterns</a:t>
            </a:r>
            <a:endParaRPr lang="fr-FR" sz="2600" b="0" u="none" strike="noStrike">
              <a:solidFill>
                <a:schemeClr val="dk1"/>
              </a:solidFill>
              <a:effectLst/>
              <a:uFillTx/>
              <a:latin typeface="Arial" panose="020B0604020202020204"/>
            </a:endParaRPr>
          </a:p>
        </p:txBody>
      </p:sp>
      <p:sp>
        <p:nvSpPr>
          <p:cNvPr id="79"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Average customer spending is highest on </a:t>
            </a:r>
            <a:r>
              <a:rPr lang="en-US" sz="1200" b="1" u="none" strike="noStrike">
                <a:solidFill>
                  <a:schemeClr val="dk1"/>
                </a:solidFill>
                <a:effectLst/>
                <a:uFillTx/>
                <a:latin typeface="Hind"/>
                <a:ea typeface="Hind"/>
              </a:rPr>
              <a:t>Saturdays</a:t>
            </a:r>
            <a:r>
              <a:rPr lang="en-US" sz="1200" b="0" u="none" strike="noStrike">
                <a:solidFill>
                  <a:schemeClr val="dk1"/>
                </a:solidFill>
                <a:effectLst/>
                <a:uFillTx/>
                <a:latin typeface="Hind"/>
                <a:ea typeface="Hind"/>
              </a:rPr>
              <a:t>, exceeding </a:t>
            </a:r>
            <a:r>
              <a:rPr lang="en-US" sz="1200" b="1" u="none" strike="noStrike">
                <a:solidFill>
                  <a:schemeClr val="dk1"/>
                </a:solidFill>
                <a:effectLst/>
                <a:uFillTx/>
                <a:latin typeface="Hind"/>
                <a:ea typeface="Hind"/>
              </a:rPr>
              <a:t>$7,500</a:t>
            </a:r>
            <a:r>
              <a:rPr lang="en-US" sz="1200" b="0" u="none" strike="noStrike">
                <a:solidFill>
                  <a:schemeClr val="dk1"/>
                </a:solidFill>
                <a:effectLst/>
                <a:uFillTx/>
                <a:latin typeface="Hind"/>
                <a:ea typeface="Hind"/>
              </a:rPr>
              <a:t>, and drops to the lowest on </a:t>
            </a:r>
            <a:r>
              <a:rPr lang="en-US" sz="1200" b="1" u="none" strike="noStrike">
                <a:solidFill>
                  <a:schemeClr val="dk1"/>
                </a:solidFill>
                <a:effectLst/>
                <a:uFillTx/>
                <a:latin typeface="Hind"/>
                <a:ea typeface="Hind"/>
              </a:rPr>
              <a:t>Wednesdays</a:t>
            </a:r>
            <a:r>
              <a:rPr lang="en-US" sz="1200" b="0" u="none" strike="noStrike">
                <a:solidFill>
                  <a:schemeClr val="dk1"/>
                </a:solidFill>
                <a:effectLst/>
                <a:uFillTx/>
                <a:latin typeface="Hind"/>
                <a:ea typeface="Hind"/>
              </a:rPr>
              <a:t>, around </a:t>
            </a:r>
            <a:r>
              <a:rPr lang="en-US" sz="1200" b="1" u="none" strike="noStrike">
                <a:solidFill>
                  <a:schemeClr val="dk1"/>
                </a:solidFill>
                <a:effectLst/>
                <a:uFillTx/>
                <a:latin typeface="Hind"/>
                <a:ea typeface="Hind"/>
              </a:rPr>
              <a:t>$7,410</a:t>
            </a:r>
            <a:r>
              <a:rPr lang="en-US" sz="1200" b="0" u="none" strike="noStrike">
                <a:solidFill>
                  <a:schemeClr val="dk1"/>
                </a:solidFill>
                <a:effectLst/>
                <a:uFillTx/>
                <a:latin typeface="Hind"/>
                <a:ea typeface="Hind"/>
              </a:rPr>
              <a:t>. This insight informs the scheduling of promotions and resource allocation to enhance revenue on high-spend days.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Age-Based Spending Behavior Analysis</a:t>
            </a:r>
            <a:endParaRPr lang="fr-FR" sz="2600" b="0" u="none" strike="noStrike">
              <a:solidFill>
                <a:schemeClr val="dk1"/>
              </a:solidFill>
              <a:effectLst/>
              <a:uFillTx/>
              <a:latin typeface="Arial" panose="020B0604020202020204"/>
            </a:endParaRPr>
          </a:p>
        </p:txBody>
      </p:sp>
      <p:sp>
        <p:nvSpPr>
          <p:cNvPr id="81"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Spending habits vary across age groups with a slight negative correlation observed. This suggests that younger or middle-aged segments may exhibit different spending behaviors, requiring nuanced segmentation strategies to capture distinct consumer needs effectively.</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28600"/>
            <a:ext cx="4266720" cy="980640"/>
          </a:xfrm>
          <a:prstGeom prst="rect">
            <a:avLst/>
          </a:prstGeom>
          <a:noFill/>
          <a:ln w="0">
            <a:noFill/>
          </a:ln>
        </p:spPr>
        <p:txBody>
          <a:bodyPr lIns="91440" tIns="91440" rIns="91440" bIns="91440" anchor="t">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Conclusions</a:t>
            </a:r>
            <a:endParaRPr lang="fr-FR" sz="2600" b="0" u="none" strike="noStrike">
              <a:solidFill>
                <a:schemeClr val="dk1"/>
              </a:solidFill>
              <a:effectLst/>
              <a:uFillTx/>
              <a:latin typeface="Arial" panose="020B0604020202020204"/>
            </a:endParaRPr>
          </a:p>
        </p:txBody>
      </p:sp>
      <p:sp>
        <p:nvSpPr>
          <p:cNvPr id="83" name="PlaceHolder 2"/>
          <p:cNvSpPr>
            <a:spLocks noGrp="1"/>
          </p:cNvSpPr>
          <p:nvPr>
            <p:ph type="subTitle"/>
          </p:nvPr>
        </p:nvSpPr>
        <p:spPr>
          <a:xfrm>
            <a:off x="228600" y="2219400"/>
            <a:ext cx="4352400" cy="269532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The analysis reveals key insights into category performance, customer demographics, and sales patterns. Emphasizing Electronics revenue potential, balanced gender marketing, and targeted age group campaigns can drive business growth. Additionally, recognizing temporal sales trends offers opportunities for optimizing promotions and resource allocation to maximize overall revenue.</a:t>
            </a:r>
            <a:endParaRPr lang="en-US" sz="1200" b="0" u="none" strike="noStrike">
              <a:solidFill>
                <a:srgbClr val="FFFFFF"/>
              </a:solidFill>
              <a:effectLst/>
              <a:uFillTx/>
              <a:latin typeface="OpenSymbol"/>
            </a:endParaRPr>
          </a:p>
        </p:txBody>
      </p:sp>
      <p:pic>
        <p:nvPicPr>
          <p:cNvPr id="84" name="Google Shape;189;p30"/>
          <p:cNvPicPr/>
          <p:nvPr/>
        </p:nvPicPr>
        <p:blipFill>
          <a:blip r:embed="rId1"/>
          <a:srcRect l="6496" r="5217"/>
          <a:stretch>
            <a:fillRect/>
          </a:stretch>
        </p:blipFill>
        <p:spPr>
          <a:xfrm>
            <a:off x="4778280" y="228600"/>
            <a:ext cx="4136760" cy="4686120"/>
          </a:xfrm>
          <a:prstGeom prst="rect">
            <a:avLst/>
          </a:prstGeom>
          <a:noFill/>
          <a:ln w="9525">
            <a:solidFill>
              <a:srgbClr val="FFFFFF"/>
            </a:solidFill>
            <a:rou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228600" y="885960"/>
            <a:ext cx="7495920" cy="1504440"/>
          </a:xfrm>
          <a:prstGeom prst="rect">
            <a:avLst/>
          </a:prstGeom>
          <a:noFill/>
          <a:ln w="0">
            <a:noFill/>
          </a:ln>
        </p:spPr>
        <p:txBody>
          <a:bodyPr lIns="91440" tIns="91440" rIns="91440" bIns="91440" anchor="b">
            <a:normAutofit/>
          </a:bodyPr>
          <a:p>
            <a:pPr indent="0">
              <a:lnSpc>
                <a:spcPct val="100000"/>
              </a:lnSpc>
              <a:buNone/>
              <a:tabLst>
                <a:tab pos="0" algn="l"/>
              </a:tabLst>
            </a:pPr>
            <a:r>
              <a:rPr lang="en-US" sz="2600" b="1" u="none" strike="noStrike">
                <a:solidFill>
                  <a:schemeClr val="dk1"/>
                </a:solidFill>
                <a:effectLst/>
                <a:uFillTx/>
                <a:latin typeface="Space Grotesk"/>
                <a:ea typeface="Space Grotesk"/>
              </a:rPr>
              <a:t>Strategic Recommendations</a:t>
            </a:r>
            <a:endParaRPr lang="fr-FR" sz="2600" b="0" u="none" strike="noStrike">
              <a:solidFill>
                <a:schemeClr val="dk1"/>
              </a:solidFill>
              <a:effectLst/>
              <a:uFillTx/>
              <a:latin typeface="Arial" panose="020B0604020202020204"/>
            </a:endParaRPr>
          </a:p>
        </p:txBody>
      </p:sp>
      <p:sp>
        <p:nvSpPr>
          <p:cNvPr id="86" name="PlaceHolder 2"/>
          <p:cNvSpPr>
            <a:spLocks noGrp="1"/>
          </p:cNvSpPr>
          <p:nvPr>
            <p:ph type="subTitle"/>
          </p:nvPr>
        </p:nvSpPr>
        <p:spPr>
          <a:xfrm>
            <a:off x="2523960" y="2629080"/>
            <a:ext cx="6391080" cy="162828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Hind"/>
                <a:ea typeface="Hind"/>
              </a:rPr>
              <a:t>Based on the analysis, prioritize investment in high-revenue categories like Electronics while maintaining balanced pricing strategies. Tailor marketing efforts to key demographics, especially ages 25-54 and both genders equally. Leverage seasonal trends by planning promotions during peak months and optimizing campaigns on high-spending days to maximize overall revenue growth.</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885240"/>
            <a:ext cx="7495920" cy="1505160"/>
          </a:xfrm>
          <a:prstGeom prst="rect">
            <a:avLst/>
          </a:prstGeom>
          <a:noFill/>
          <a:ln w="0">
            <a:noFill/>
          </a:ln>
        </p:spPr>
        <p:txBody>
          <a:bodyPr lIns="91440" tIns="91440" rIns="91440" bIns="91440" anchor="b">
            <a:spAutoFit/>
          </a:bodyPr>
          <a:p>
            <a:pPr indent="0">
              <a:buNone/>
            </a:pPr>
            <a:endParaRPr lang="fr-FR" sz="2600" b="1" u="none" strike="noStrike">
              <a:solidFill>
                <a:schemeClr val="dk1"/>
              </a:solidFill>
              <a:effectLst/>
              <a:uFillTx/>
              <a:latin typeface="Space Grotesk"/>
              <a:ea typeface="Space Grotesk"/>
            </a:endParaRPr>
          </a:p>
        </p:txBody>
      </p:sp>
      <p:sp>
        <p:nvSpPr>
          <p:cNvPr id="88"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885240"/>
            <a:ext cx="7495920" cy="1505160"/>
          </a:xfrm>
          <a:prstGeom prst="rect">
            <a:avLst/>
          </a:prstGeom>
          <a:noFill/>
          <a:ln w="0">
            <a:noFill/>
          </a:ln>
        </p:spPr>
        <p:txBody>
          <a:bodyPr lIns="91440" tIns="91440" rIns="91440" bIns="91440" anchor="b">
            <a:spAutoFit/>
          </a:bodyPr>
          <a:p>
            <a:pPr indent="0">
              <a:buNone/>
            </a:pPr>
            <a:endParaRPr lang="fr-FR" sz="2600" b="1" u="none" strike="noStrike">
              <a:solidFill>
                <a:schemeClr val="dk1"/>
              </a:solidFill>
              <a:effectLst/>
              <a:uFillTx/>
              <a:latin typeface="Space Grotesk"/>
              <a:ea typeface="Space Grotesk"/>
            </a:endParaRPr>
          </a:p>
        </p:txBody>
      </p:sp>
      <p:sp>
        <p:nvSpPr>
          <p:cNvPr id="90"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228600" y="885240"/>
            <a:ext cx="7495920" cy="1505160"/>
          </a:xfrm>
          <a:prstGeom prst="rect">
            <a:avLst/>
          </a:prstGeom>
          <a:noFill/>
          <a:ln w="0">
            <a:noFill/>
          </a:ln>
        </p:spPr>
        <p:txBody>
          <a:bodyPr lIns="91440" tIns="91440" rIns="91440" bIns="91440" anchor="b">
            <a:spAutoFit/>
          </a:bodyPr>
          <a:p>
            <a:pPr indent="0">
              <a:buNone/>
            </a:pPr>
            <a:endParaRPr lang="fr-FR" sz="2600" b="1" u="none" strike="noStrike">
              <a:solidFill>
                <a:schemeClr val="dk1"/>
              </a:solidFill>
              <a:effectLst/>
              <a:uFillTx/>
              <a:latin typeface="Space Grotesk"/>
              <a:ea typeface="Space Grotesk"/>
            </a:endParaRPr>
          </a:p>
        </p:txBody>
      </p:sp>
      <p:sp>
        <p:nvSpPr>
          <p:cNvPr id="92" name="PlaceHolder 2"/>
          <p:cNvSpPr>
            <a:spLocks noGrp="1"/>
          </p:cNvSpPr>
          <p:nvPr>
            <p:ph type="subTitle"/>
          </p:nvPr>
        </p:nvSpPr>
        <p:spPr>
          <a:xfrm>
            <a:off x="2523960" y="2629080"/>
            <a:ext cx="6391080" cy="1629000"/>
          </a:xfrm>
          <a:prstGeom prst="rect">
            <a:avLst/>
          </a:prstGeom>
          <a:noFill/>
          <a:ln w="0">
            <a:noFill/>
          </a:ln>
        </p:spPr>
        <p:txBody>
          <a:bodyPr lIns="91440" tIns="91440" rIns="91440" bIns="91440" anchor="t">
            <a:spAutoFit/>
          </a:bodyPr>
          <a:p>
            <a:pPr indent="0" algn="ctr">
              <a:buNone/>
            </a:pPr>
            <a:endParaRPr lang="en-US" sz="1200" b="0" u="none" strike="noStrike">
              <a:solidFill>
                <a:schemeClr val="dk1"/>
              </a:solidFill>
              <a:effectLst/>
              <a:uFillTx/>
              <a:latin typeface="Hind"/>
              <a:ea typeface="Hi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228600" y="-416160"/>
            <a:ext cx="5619240" cy="2377800"/>
          </a:xfrm>
          <a:prstGeom prst="rect">
            <a:avLst/>
          </a:prstGeom>
          <a:noFill/>
          <a:ln w="0">
            <a:noFill/>
          </a:ln>
        </p:spPr>
        <p:txBody>
          <a:bodyPr lIns="91440" tIns="91440" rIns="91440" bIns="91440" anchor="b">
            <a:spAutoFit/>
          </a:bodyPr>
          <a:p>
            <a:pPr indent="0">
              <a:lnSpc>
                <a:spcPct val="100000"/>
              </a:lnSpc>
              <a:buNone/>
              <a:tabLst>
                <a:tab pos="0" algn="l"/>
              </a:tabLst>
            </a:pPr>
            <a:r>
              <a:rPr lang="en-GB" sz="7200" b="1" u="none" strike="noStrike">
                <a:solidFill>
                  <a:schemeClr val="dk1"/>
                </a:solidFill>
                <a:effectLst/>
                <a:uFillTx/>
                <a:latin typeface="Space Grotesk"/>
                <a:ea typeface="Space Grotesk"/>
              </a:rPr>
              <a:t>Thank you</a:t>
            </a:r>
            <a:endParaRPr lang="fr-FR" sz="7200" b="0" u="none" strike="noStrike">
              <a:solidFill>
                <a:schemeClr val="dk1"/>
              </a:solidFill>
              <a:effectLst/>
              <a:uFillTx/>
              <a:latin typeface="Arial" panose="020B0604020202020204"/>
            </a:endParaRPr>
          </a:p>
        </p:txBody>
      </p:sp>
      <p:sp>
        <p:nvSpPr>
          <p:cNvPr id="94" name="PlaceHolder 2"/>
          <p:cNvSpPr>
            <a:spLocks noGrp="1"/>
          </p:cNvSpPr>
          <p:nvPr>
            <p:ph type="subTitle"/>
          </p:nvPr>
        </p:nvSpPr>
        <p:spPr>
          <a:xfrm>
            <a:off x="228600" y="1962000"/>
            <a:ext cx="2609640" cy="1047960"/>
          </a:xfrm>
          <a:prstGeom prst="rect">
            <a:avLst/>
          </a:prstGeom>
          <a:noFill/>
          <a:ln w="0">
            <a:noFill/>
          </a:ln>
        </p:spPr>
        <p:txBody>
          <a:bodyPr lIns="91440" tIns="91440" rIns="91440" bIns="91440" anchor="t">
            <a:spAutoFit/>
          </a:bodyPr>
          <a:p>
            <a:pPr indent="0">
              <a:lnSpc>
                <a:spcPct val="100000"/>
              </a:lnSpc>
              <a:buNone/>
              <a:tabLst>
                <a:tab pos="0" algn="l"/>
              </a:tabLst>
            </a:pPr>
            <a:r>
              <a:rPr lang="en-GB" sz="1400" b="1" u="none" strike="noStrike">
                <a:solidFill>
                  <a:schemeClr val="dk1"/>
                </a:solidFill>
                <a:effectLst/>
                <a:uFillTx/>
                <a:latin typeface="Hind"/>
                <a:ea typeface="Hind"/>
              </a:rPr>
              <a:t>Do you have any questions?</a:t>
            </a:r>
            <a:endParaRPr lang="en-US" sz="1400" b="0" u="none" strike="noStrike">
              <a:solidFill>
                <a:srgbClr val="FFFFFF"/>
              </a:solidFill>
              <a:effectLst/>
              <a:uFillTx/>
              <a:latin typeface="OpenSymbol"/>
            </a:endParaRPr>
          </a:p>
          <a:p>
            <a:pPr indent="0">
              <a:lnSpc>
                <a:spcPct val="100000"/>
              </a:lnSpc>
              <a:buNone/>
              <a:tabLst>
                <a:tab pos="0" algn="l"/>
              </a:tabLst>
            </a:pPr>
            <a:r>
              <a:rPr lang="en-GB" sz="1400" b="0" u="none" strike="noStrike">
                <a:solidFill>
                  <a:schemeClr val="dk1"/>
                </a:solidFill>
                <a:effectLst/>
                <a:uFillTx/>
                <a:latin typeface="Hind"/>
                <a:ea typeface="Hind"/>
              </a:rPr>
              <a:t>youremail@freepik.com</a:t>
            </a:r>
            <a:endParaRPr lang="en-US" sz="1400" b="0" u="none" strike="noStrike">
              <a:solidFill>
                <a:srgbClr val="FFFFFF"/>
              </a:solidFill>
              <a:effectLst/>
              <a:uFillTx/>
              <a:latin typeface="OpenSymbol"/>
            </a:endParaRPr>
          </a:p>
          <a:p>
            <a:pPr indent="0">
              <a:lnSpc>
                <a:spcPct val="100000"/>
              </a:lnSpc>
              <a:buNone/>
              <a:tabLst>
                <a:tab pos="0" algn="l"/>
              </a:tabLst>
            </a:pPr>
            <a:r>
              <a:rPr lang="en-GB" sz="1400" b="0" u="none" strike="noStrike">
                <a:solidFill>
                  <a:schemeClr val="dk1"/>
                </a:solidFill>
                <a:effectLst/>
                <a:uFillTx/>
                <a:latin typeface="Hind"/>
                <a:ea typeface="Hind"/>
              </a:rPr>
              <a:t>+00 000 000 000</a:t>
            </a:r>
            <a:endParaRPr lang="en-US" sz="1400" b="0" u="none" strike="noStrike">
              <a:solidFill>
                <a:srgbClr val="FFFFFF"/>
              </a:solidFill>
              <a:effectLst/>
              <a:uFillTx/>
              <a:latin typeface="OpenSymbol"/>
            </a:endParaRPr>
          </a:p>
          <a:p>
            <a:pPr indent="0">
              <a:lnSpc>
                <a:spcPct val="100000"/>
              </a:lnSpc>
              <a:buNone/>
              <a:tabLst>
                <a:tab pos="0" algn="l"/>
              </a:tabLst>
            </a:pPr>
            <a:r>
              <a:rPr lang="en-GB" sz="1400" b="0" u="none" strike="noStrike">
                <a:solidFill>
                  <a:schemeClr val="dk1"/>
                </a:solidFill>
                <a:effectLst/>
                <a:uFillTx/>
                <a:latin typeface="Hind"/>
                <a:ea typeface="Hind"/>
              </a:rPr>
              <a:t>yourwebsite.com</a:t>
            </a:r>
            <a:endParaRPr lang="en-US" sz="1400" b="0" u="none" strike="noStrike">
              <a:solidFill>
                <a:srgbClr val="FFFFFF"/>
              </a:solidFill>
              <a:effectLst/>
              <a:uFillTx/>
              <a:latin typeface="OpenSymbol"/>
            </a:endParaRPr>
          </a:p>
        </p:txBody>
      </p:sp>
      <p:sp>
        <p:nvSpPr>
          <p:cNvPr id="95" name="Google Shape;310;p38"/>
          <p:cNvSpPr/>
          <p:nvPr/>
        </p:nvSpPr>
        <p:spPr>
          <a:xfrm>
            <a:off x="6657840" y="4324320"/>
            <a:ext cx="2180880" cy="152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r" defTabSz="914400">
              <a:lnSpc>
                <a:spcPct val="100000"/>
              </a:lnSpc>
              <a:tabLst>
                <a:tab pos="0" algn="l"/>
              </a:tabLst>
            </a:pPr>
            <a:r>
              <a:rPr lang="en-GB" sz="1000" b="0" u="none" strike="noStrike">
                <a:solidFill>
                  <a:schemeClr val="dk1"/>
                </a:solidFill>
                <a:effectLst/>
                <a:uFillTx/>
                <a:latin typeface="Arial" panose="020B0604020202020204"/>
              </a:rPr>
              <a:t>Please keep this slide for attribution</a:t>
            </a:r>
            <a:endParaRPr lang="en-US" sz="1000" b="0" u="none" strike="noStrike">
              <a:solidFill>
                <a:srgbClr val="FFFFFF"/>
              </a:solidFill>
              <a:effectLst/>
              <a:uFillTx/>
              <a:latin typeface="OpenSymbol"/>
            </a:endParaRPr>
          </a:p>
        </p:txBody>
      </p:sp>
      <p:cxnSp>
        <p:nvCxnSpPr>
          <p:cNvPr id="96" name="Google Shape;311;p38"/>
          <p:cNvCxnSpPr/>
          <p:nvPr/>
        </p:nvCxnSpPr>
        <p:spPr>
          <a:xfrm>
            <a:off x="290520" y="3008880"/>
            <a:ext cx="2544120" cy="360"/>
          </a:xfrm>
          <a:prstGeom prst="straightConnector1">
            <a:avLst/>
          </a:prstGeom>
          <a:ln w="9525">
            <a:solidFill>
              <a:srgbClr val="FFFFFF"/>
            </a:solidFill>
            <a:round/>
          </a:ln>
        </p:spPr>
      </p:cxnSp>
      <p:grpSp>
        <p:nvGrpSpPr>
          <p:cNvPr id="97" name="Google Shape;312;p38"/>
          <p:cNvGrpSpPr/>
          <p:nvPr/>
        </p:nvGrpSpPr>
        <p:grpSpPr>
          <a:xfrm>
            <a:off x="8580960" y="3185280"/>
            <a:ext cx="257760" cy="257760"/>
            <a:chOff x="8580960" y="3185280"/>
            <a:chExt cx="257760" cy="257760"/>
          </a:xfrm>
        </p:grpSpPr>
        <p:sp>
          <p:nvSpPr>
            <p:cNvPr id="98" name="Google Shape;313;p38"/>
            <p:cNvSpPr/>
            <p:nvPr/>
          </p:nvSpPr>
          <p:spPr>
            <a:xfrm>
              <a:off x="8653680" y="3248280"/>
              <a:ext cx="112320" cy="132120"/>
            </a:xfrm>
            <a:custGeom>
              <a:avLst/>
              <a:gdLst>
                <a:gd name="textAreaLeft" fmla="*/ 0 w 112320"/>
                <a:gd name="textAreaRight" fmla="*/ 112680 w 112320"/>
                <a:gd name="textAreaTop" fmla="*/ 0 h 132120"/>
                <a:gd name="textAreaBottom" fmla="*/ 132480 h 132120"/>
              </a:gdLst>
              <a:ahLst/>
              <a:cxnLst/>
              <a:rect l="textAreaLeft" t="textAreaTop" r="textAreaRight" b="textAreaBottom"/>
              <a:pathLst>
                <a:path w="1496854" h="1758990">
                  <a:moveTo>
                    <a:pt x="0" y="0"/>
                  </a:moveTo>
                  <a:lnTo>
                    <a:pt x="1229717" y="1758990"/>
                  </a:lnTo>
                  <a:lnTo>
                    <a:pt x="1496855" y="1758990"/>
                  </a:lnTo>
                  <a:lnTo>
                    <a:pt x="267166" y="0"/>
                  </a:lnTo>
                  <a:lnTo>
                    <a:pt x="0" y="0"/>
                  </a:lnTo>
                  <a:close/>
                </a:path>
              </a:pathLst>
            </a:custGeom>
            <a:solidFill>
              <a:schemeClr val="dk1"/>
            </a:solidFill>
            <a:ln w="0">
              <a:noFill/>
            </a:ln>
          </p:spPr>
          <p:style>
            <a:lnRef idx="0">
              <a:srgbClr val="FFFFFF"/>
            </a:lnRef>
            <a:fillRef idx="0">
              <a:srgbClr val="FFFFFF"/>
            </a:fillRef>
            <a:effectRef idx="0">
              <a:srgbClr val="FFFFFF"/>
            </a:effectRef>
            <a:fontRef idx="minor"/>
          </p:style>
          <p:txBody>
            <a:bodyPr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314;p38"/>
            <p:cNvSpPr/>
            <p:nvPr/>
          </p:nvSpPr>
          <p:spPr>
            <a:xfrm>
              <a:off x="8580960" y="3185280"/>
              <a:ext cx="257760" cy="257760"/>
            </a:xfrm>
            <a:custGeom>
              <a:avLst/>
              <a:gdLst>
                <a:gd name="textAreaLeft" fmla="*/ 0 w 257760"/>
                <a:gd name="textAreaRight" fmla="*/ 258120 w 257760"/>
                <a:gd name="textAreaTop" fmla="*/ 0 h 257760"/>
                <a:gd name="textAreaBottom" fmla="*/ 258120 h 257760"/>
              </a:gdLst>
              <a:ahLst/>
              <a:cxnLst/>
              <a:rect l="textAreaLeft" t="textAreaTop" r="textAreaRight" b="textAreaBottom"/>
              <a:pathLst>
                <a:path w="3429000" h="3429000">
                  <a:moveTo>
                    <a:pt x="1714500" y="0"/>
                  </a:moveTo>
                  <a:cubicBezTo>
                    <a:pt x="767627" y="0"/>
                    <a:pt x="0" y="767627"/>
                    <a:pt x="0" y="1714500"/>
                  </a:cubicBezTo>
                  <a:cubicBezTo>
                    <a:pt x="0" y="2661374"/>
                    <a:pt x="767627" y="3429000"/>
                    <a:pt x="1714500" y="3429000"/>
                  </a:cubicBezTo>
                  <a:cubicBezTo>
                    <a:pt x="2661374" y="3429000"/>
                    <a:pt x="3429000" y="2661374"/>
                    <a:pt x="3429000" y="1714500"/>
                  </a:cubicBezTo>
                  <a:cubicBezTo>
                    <a:pt x="3429000" y="767627"/>
                    <a:pt x="2661374" y="0"/>
                    <a:pt x="1714500" y="0"/>
                  </a:cubicBezTo>
                  <a:close/>
                  <a:moveTo>
                    <a:pt x="2113209" y="2721067"/>
                  </a:moveTo>
                  <a:lnTo>
                    <a:pt x="1575663" y="1938768"/>
                  </a:lnTo>
                  <a:lnTo>
                    <a:pt x="902663" y="2721067"/>
                  </a:lnTo>
                  <a:lnTo>
                    <a:pt x="728725" y="2721067"/>
                  </a:lnTo>
                  <a:lnTo>
                    <a:pt x="1498448" y="1826397"/>
                  </a:lnTo>
                  <a:lnTo>
                    <a:pt x="728725" y="706173"/>
                  </a:lnTo>
                  <a:lnTo>
                    <a:pt x="1315791" y="706173"/>
                  </a:lnTo>
                  <a:lnTo>
                    <a:pt x="1824804" y="1446971"/>
                  </a:lnTo>
                  <a:lnTo>
                    <a:pt x="2462089" y="706173"/>
                  </a:lnTo>
                  <a:lnTo>
                    <a:pt x="2635998" y="706173"/>
                  </a:lnTo>
                  <a:lnTo>
                    <a:pt x="1902047" y="1559343"/>
                  </a:lnTo>
                  <a:lnTo>
                    <a:pt x="1901991" y="1559343"/>
                  </a:lnTo>
                  <a:lnTo>
                    <a:pt x="2700247" y="2721067"/>
                  </a:lnTo>
                  <a:lnTo>
                    <a:pt x="2113181" y="2721067"/>
                  </a:lnTo>
                  <a:close/>
                </a:path>
              </a:pathLst>
            </a:custGeom>
            <a:solidFill>
              <a:schemeClr val="dk1"/>
            </a:solidFill>
            <a:ln w="0">
              <a:noFill/>
            </a:ln>
          </p:spPr>
          <p:style>
            <a:lnRef idx="0">
              <a:srgbClr val="FFFFFF"/>
            </a:lnRef>
            <a:fillRef idx="0">
              <a:srgbClr val="FFFFFF"/>
            </a:fillRef>
            <a:effectRef idx="0">
              <a:srgbClr val="FFFFFF"/>
            </a:effectRef>
            <a:fontRef idx="minor"/>
          </p:style>
          <p:txBody>
            <a:bodyPr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0" name="Google Shape;315;p38"/>
          <p:cNvGrpSpPr/>
          <p:nvPr/>
        </p:nvGrpSpPr>
        <p:grpSpPr>
          <a:xfrm>
            <a:off x="7267680" y="3191400"/>
            <a:ext cx="238320" cy="238320"/>
            <a:chOff x="7267680" y="3191400"/>
            <a:chExt cx="238320" cy="238320"/>
          </a:xfrm>
        </p:grpSpPr>
        <p:sp>
          <p:nvSpPr>
            <p:cNvPr id="101" name="Google Shape;316;p38"/>
            <p:cNvSpPr/>
            <p:nvPr/>
          </p:nvSpPr>
          <p:spPr>
            <a:xfrm>
              <a:off x="7380360" y="3233160"/>
              <a:ext cx="81360" cy="196560"/>
            </a:xfrm>
            <a:custGeom>
              <a:avLst/>
              <a:gdLst>
                <a:gd name="textAreaLeft" fmla="*/ 0 w 81360"/>
                <a:gd name="textAreaRight" fmla="*/ 81720 w 81360"/>
                <a:gd name="textAreaTop" fmla="*/ 0 h 196560"/>
                <a:gd name="textAreaBottom" fmla="*/ 196920 h 19656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317;p38"/>
            <p:cNvSpPr/>
            <p:nvPr/>
          </p:nvSpPr>
          <p:spPr>
            <a:xfrm>
              <a:off x="7267680" y="3191400"/>
              <a:ext cx="238320" cy="238320"/>
            </a:xfrm>
            <a:custGeom>
              <a:avLst/>
              <a:gdLst>
                <a:gd name="textAreaLeft" fmla="*/ 0 w 238320"/>
                <a:gd name="textAreaRight" fmla="*/ 238680 w 238320"/>
                <a:gd name="textAreaTop" fmla="*/ 0 h 238320"/>
                <a:gd name="textAreaBottom" fmla="*/ 238680 h 23832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3" name="Google Shape;318;p38"/>
          <p:cNvGrpSpPr/>
          <p:nvPr/>
        </p:nvGrpSpPr>
        <p:grpSpPr>
          <a:xfrm>
            <a:off x="8138520" y="3191400"/>
            <a:ext cx="238320" cy="238320"/>
            <a:chOff x="8138520" y="3191400"/>
            <a:chExt cx="238320" cy="238320"/>
          </a:xfrm>
        </p:grpSpPr>
        <p:sp>
          <p:nvSpPr>
            <p:cNvPr id="104" name="Google Shape;319;p38"/>
            <p:cNvSpPr/>
            <p:nvPr/>
          </p:nvSpPr>
          <p:spPr>
            <a:xfrm>
              <a:off x="8188200" y="3233880"/>
              <a:ext cx="13680" cy="13680"/>
            </a:xfrm>
            <a:custGeom>
              <a:avLst/>
              <a:gdLst>
                <a:gd name="textAreaLeft" fmla="*/ 0 w 13680"/>
                <a:gd name="textAreaRight" fmla="*/ 14040 w 13680"/>
                <a:gd name="textAreaTop" fmla="*/ 0 h 13680"/>
                <a:gd name="textAreaBottom" fmla="*/ 14040 h 1368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6840" bIns="68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320;p38"/>
            <p:cNvSpPr/>
            <p:nvPr/>
          </p:nvSpPr>
          <p:spPr>
            <a:xfrm>
              <a:off x="8138520" y="3191400"/>
              <a:ext cx="238320" cy="238320"/>
            </a:xfrm>
            <a:custGeom>
              <a:avLst/>
              <a:gdLst>
                <a:gd name="textAreaLeft" fmla="*/ 0 w 238320"/>
                <a:gd name="textAreaRight" fmla="*/ 238680 w 238320"/>
                <a:gd name="textAreaTop" fmla="*/ 0 h 238320"/>
                <a:gd name="textAreaBottom" fmla="*/ 238680 h 23832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321;p38"/>
            <p:cNvSpPr/>
            <p:nvPr/>
          </p:nvSpPr>
          <p:spPr>
            <a:xfrm>
              <a:off x="8244000" y="3289320"/>
              <a:ext cx="83520" cy="97920"/>
            </a:xfrm>
            <a:custGeom>
              <a:avLst/>
              <a:gdLst>
                <a:gd name="textAreaLeft" fmla="*/ 0 w 83520"/>
                <a:gd name="textAreaRight" fmla="*/ 83880 w 83520"/>
                <a:gd name="textAreaTop" fmla="*/ 0 h 97920"/>
                <a:gd name="textAreaBottom" fmla="*/ 98280 h 9792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48960" bIns="4896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322;p38"/>
            <p:cNvSpPr/>
            <p:nvPr/>
          </p:nvSpPr>
          <p:spPr>
            <a:xfrm>
              <a:off x="8188200" y="3289680"/>
              <a:ext cx="13680" cy="97560"/>
            </a:xfrm>
            <a:custGeom>
              <a:avLst/>
              <a:gdLst>
                <a:gd name="textAreaLeft" fmla="*/ 0 w 13680"/>
                <a:gd name="textAreaRight" fmla="*/ 14040 w 13680"/>
                <a:gd name="textAreaTop" fmla="*/ 0 h 97560"/>
                <a:gd name="textAreaBottom" fmla="*/ 97920 h 97560"/>
              </a:gdLst>
              <a:ahLst/>
              <a:cxnLst/>
              <a:rect l="textAreaLeft" t="textAreaTop" r="textAreaRight" b="textAreaBottom"/>
              <a:pathLst>
                <a:path w="1119" h="7820">
                  <a:moveTo>
                    <a:pt x="0" y="0"/>
                  </a:moveTo>
                  <a:lnTo>
                    <a:pt x="0" y="7819"/>
                  </a:lnTo>
                  <a:lnTo>
                    <a:pt x="1118" y="7819"/>
                  </a:lnTo>
                  <a:lnTo>
                    <a:pt x="1118" y="0"/>
                  </a:lnTo>
                  <a:close/>
                </a:path>
              </a:pathLst>
            </a:custGeom>
            <a:solidFill>
              <a:schemeClr val="dk1"/>
            </a:solidFill>
            <a:ln w="0">
              <a:noFill/>
            </a:ln>
          </p:spPr>
          <p:style>
            <a:lnRef idx="0">
              <a:srgbClr val="FFFFFF"/>
            </a:lnRef>
            <a:fillRef idx="0">
              <a:srgbClr val="FFFFFF"/>
            </a:fillRef>
            <a:effectRef idx="0">
              <a:srgbClr val="FFFFFF"/>
            </a:effectRef>
            <a:fontRef idx="minor"/>
          </p:style>
          <p:txBody>
            <a:bodyPr tIns="48960" bIns="4896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8" name="Google Shape;323;p38"/>
          <p:cNvGrpSpPr/>
          <p:nvPr/>
        </p:nvGrpSpPr>
        <p:grpSpPr>
          <a:xfrm>
            <a:off x="7701840" y="3191400"/>
            <a:ext cx="238320" cy="238320"/>
            <a:chOff x="7701840" y="3191400"/>
            <a:chExt cx="238320" cy="238320"/>
          </a:xfrm>
        </p:grpSpPr>
        <p:sp>
          <p:nvSpPr>
            <p:cNvPr id="109" name="Google Shape;324;p38"/>
            <p:cNvSpPr/>
            <p:nvPr/>
          </p:nvSpPr>
          <p:spPr>
            <a:xfrm>
              <a:off x="7744320" y="3233880"/>
              <a:ext cx="153360" cy="153360"/>
            </a:xfrm>
            <a:custGeom>
              <a:avLst/>
              <a:gdLst>
                <a:gd name="textAreaLeft" fmla="*/ 0 w 153360"/>
                <a:gd name="textAreaRight" fmla="*/ 153720 w 153360"/>
                <a:gd name="textAreaTop" fmla="*/ 0 h 153360"/>
                <a:gd name="textAreaBottom" fmla="*/ 153720 h 15336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76680" bIns="7668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325;p38"/>
            <p:cNvSpPr/>
            <p:nvPr/>
          </p:nvSpPr>
          <p:spPr>
            <a:xfrm>
              <a:off x="7786440" y="3275640"/>
              <a:ext cx="69480" cy="69480"/>
            </a:xfrm>
            <a:custGeom>
              <a:avLst/>
              <a:gdLst>
                <a:gd name="textAreaLeft" fmla="*/ 0 w 69480"/>
                <a:gd name="textAreaRight" fmla="*/ 69840 w 69480"/>
                <a:gd name="textAreaTop" fmla="*/ 0 h 69480"/>
                <a:gd name="textAreaBottom" fmla="*/ 69840 h 6948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34920" bIns="3492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326;p38"/>
            <p:cNvSpPr/>
            <p:nvPr/>
          </p:nvSpPr>
          <p:spPr>
            <a:xfrm>
              <a:off x="7701840" y="3191400"/>
              <a:ext cx="238320" cy="238320"/>
            </a:xfrm>
            <a:custGeom>
              <a:avLst/>
              <a:gdLst>
                <a:gd name="textAreaLeft" fmla="*/ 0 w 238320"/>
                <a:gd name="textAreaRight" fmla="*/ 238680 w 238320"/>
                <a:gd name="textAreaTop" fmla="*/ 0 h 238320"/>
                <a:gd name="textAreaBottom" fmla="*/ 238680 h 23832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w="0">
              <a:noFill/>
            </a:ln>
          </p:spPr>
          <p:style>
            <a:lnRef idx="0">
              <a:srgbClr val="FFFFFF"/>
            </a:lnRef>
            <a:fillRef idx="0">
              <a:srgbClr val="FFFFFF"/>
            </a:fillRef>
            <a:effectRef idx="0">
              <a:srgbClr val="FFFFFF"/>
            </a:effectRef>
            <a:fontRef idx="minor"/>
          </p:style>
          <p:txBody>
            <a:bodyPr tIns="91440" bIns="91440" anchor="ctr">
              <a:noAutofit/>
            </a:bodyPr>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Dark Theme by Slidesgo">
  <a:themeElements>
    <a:clrScheme name="Simple Light">
      <a:dk1>
        <a:srgbClr val="FFFFFF"/>
      </a:dk1>
      <a:lt1>
        <a:srgbClr val="0D0D0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4968</Words>
  <Application>WPS Presentation</Application>
  <PresentationFormat/>
  <Paragraphs>85</Paragraphs>
  <Slides>24</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24</vt:i4>
      </vt:variant>
    </vt:vector>
  </HeadingPairs>
  <TitlesOfParts>
    <vt:vector size="38" baseType="lpstr">
      <vt:lpstr>Arial</vt:lpstr>
      <vt:lpstr>SimSun</vt:lpstr>
      <vt:lpstr>Wingdings</vt:lpstr>
      <vt:lpstr>Arial</vt:lpstr>
      <vt:lpstr>Symbol</vt:lpstr>
      <vt:lpstr>Space Grotesk</vt:lpstr>
      <vt:lpstr>Segoe Print</vt:lpstr>
      <vt:lpstr>Hind</vt:lpstr>
      <vt:lpstr>OpenSymbol</vt:lpstr>
      <vt:lpstr>Microsoft YaHei</vt:lpstr>
      <vt:lpstr>Arial Unicode MS</vt:lpstr>
      <vt:lpstr>Calibri</vt:lpstr>
      <vt:lpstr>Dark Theme by Slidesgo</vt:lpstr>
      <vt:lpstr>Slidesgo Final Pages</vt:lpstr>
      <vt:lpstr>Sales Insights</vt:lpstr>
      <vt:lpstr>Introduction</vt:lpstr>
      <vt:lpstr>Project Overview and Methodology</vt:lpstr>
      <vt:lpstr>Objectives and Deliverables</vt:lpstr>
      <vt:lpstr>Data Cleaning and Preprocessing</vt:lpstr>
      <vt:lpstr>Analytical Tools and Approach</vt:lpstr>
      <vt:lpstr>Product Category Sales Analysis</vt:lpstr>
      <vt:lpstr>Price Distribution and Median Pricing</vt:lpstr>
      <vt:lpstr>Transaction Volume by Category</vt:lpstr>
      <vt:lpstr>Revenue Contribution Comparison</vt:lpstr>
      <vt:lpstr>Customer Demographics and Behavior</vt:lpstr>
      <vt:lpstr>Gender-Based Revenue Contribution</vt:lpstr>
      <vt:lpstr>Age Group Revenue Insights</vt:lpstr>
      <vt:lpstr>Spending Preferences by Gender and Category</vt:lpstr>
      <vt:lpstr>Temporal and Segmented Sales Trends</vt:lpstr>
      <vt:lpstr>Monthly Revenue Fluctuations and Seasonality</vt:lpstr>
      <vt:lpstr>Daily Spending Patterns</vt:lpstr>
      <vt:lpstr>Age-Based Spending Behavior Analysis</vt:lpstr>
      <vt:lpstr>Conclusions</vt:lpstr>
      <vt:lpstr>Strategic Recommendations</vt:lpstr>
      <vt:lpstr>PowerPoint 演示文稿</vt:lpstr>
      <vt:lpstr>PowerPoint 演示文稿</vt:lpstr>
      <vt:lpstr>PowerPoint 演示文稿</vt:lpstr>
      <vt:lpstr>Thank you</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Insights</dc:title>
  <dc:creator/>
  <cp:lastModifiedBy>Snitch</cp:lastModifiedBy>
  <cp:revision>1</cp:revision>
  <dcterms:created xsi:type="dcterms:W3CDTF">2025-12-26T03:09:26Z</dcterms:created>
  <dcterms:modified xsi:type="dcterms:W3CDTF">2025-12-26T03:09:26Z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24</vt:r8>
  </property>
  <property fmtid="{D5CDD505-2E9C-101B-9397-08002B2CF9AE}" pid="3" name="ICV">
    <vt:lpwstr>6E12D9E44CD8406BA46DE28CFC720659_12</vt:lpwstr>
  </property>
  <property fmtid="{D5CDD505-2E9C-101B-9397-08002B2CF9AE}" pid="4" name="KSOProductBuildVer">
    <vt:lpwstr>1033-12.2.0.23196</vt:lpwstr>
  </property>
</Properties>
</file>